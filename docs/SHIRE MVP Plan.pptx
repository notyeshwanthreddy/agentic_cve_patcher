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4" r:id="rId4"/>
    <p:sldId id="268" r:id="rId5"/>
    <p:sldId id="265" r:id="rId6"/>
    <p:sldId id="258" r:id="rId7"/>
    <p:sldId id="266" r:id="rId8"/>
    <p:sldId id="257"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94660"/>
  </p:normalViewPr>
  <p:slideViewPr>
    <p:cSldViewPr snapToGrid="0">
      <p:cViewPr varScale="1">
        <p:scale>
          <a:sx n="108" d="100"/>
          <a:sy n="108" d="100"/>
        </p:scale>
        <p:origin x="64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14AB0-A5D6-AACB-F760-B4DC372526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1CC41E-6EEF-F460-498D-60EB39AFE8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E7872A-B882-ADA6-132E-AA983E50B4C9}"/>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5" name="Footer Placeholder 4">
            <a:extLst>
              <a:ext uri="{FF2B5EF4-FFF2-40B4-BE49-F238E27FC236}">
                <a16:creationId xmlns:a16="http://schemas.microsoft.com/office/drawing/2014/main" id="{FD84825F-61E1-FBCF-8B68-A61B3388D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35BFD7-5F38-AF86-CBDB-86E56F44E716}"/>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314814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409A-86EA-B157-7A4C-5D16D903F4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1B7F8F-0256-BBFE-FE31-E6EB688B4C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885758-1633-4298-91DA-7C248E5C8C0A}"/>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5" name="Footer Placeholder 4">
            <a:extLst>
              <a:ext uri="{FF2B5EF4-FFF2-40B4-BE49-F238E27FC236}">
                <a16:creationId xmlns:a16="http://schemas.microsoft.com/office/drawing/2014/main" id="{5C65AA9A-8558-E60C-F2EC-BEDC8AF19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10FAD-483C-FF2E-0165-3008D3DBA710}"/>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3777419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C284C-2420-CBE8-8C2E-9E440B81B4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3CB59B-5E16-CFBF-23CB-1B7B173BBA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B83362-5A6B-DC53-E643-53D9FA14FC9D}"/>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5" name="Footer Placeholder 4">
            <a:extLst>
              <a:ext uri="{FF2B5EF4-FFF2-40B4-BE49-F238E27FC236}">
                <a16:creationId xmlns:a16="http://schemas.microsoft.com/office/drawing/2014/main" id="{209E8633-C786-625B-D9C3-D1D0A1E75A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74D2E3-62E7-2806-CC1E-4DF479E70A3B}"/>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1953922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C53C5-6039-F07F-82DC-AAE95E36C4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59B562-EE71-2547-FF66-43F00727B9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0A1225-B6AB-2332-6840-61B257D6DE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644C25-A6C2-CDFF-8CF2-CD7317D4994C}"/>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6" name="Footer Placeholder 5">
            <a:extLst>
              <a:ext uri="{FF2B5EF4-FFF2-40B4-BE49-F238E27FC236}">
                <a16:creationId xmlns:a16="http://schemas.microsoft.com/office/drawing/2014/main" id="{D2CBA61D-24DC-2B1C-2D5F-DAF94B0625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C44FD2-CDC9-27A1-5C1C-B16C805522F7}"/>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548536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B65DD-9333-622A-B906-9729F351CE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135C2C-2768-C8A2-E982-C4DE1929C2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4BD388-A3B3-7A46-9407-4164646DDA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21D1FB-74A9-486A-9325-D536664303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69B054-7BED-BBB6-3C1D-070FDF99F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03C62A-D16E-FD79-85EE-2D719E8C0328}"/>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8" name="Footer Placeholder 7">
            <a:extLst>
              <a:ext uri="{FF2B5EF4-FFF2-40B4-BE49-F238E27FC236}">
                <a16:creationId xmlns:a16="http://schemas.microsoft.com/office/drawing/2014/main" id="{8DE90A75-1FC1-C5B6-71F3-7DFEE4DCB3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F05F24-3043-3F59-A23F-39F83C0E050F}"/>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2958832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EFB95-6486-413C-17A7-E696E76822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FD2531-1DF8-1BED-316F-6DF0BA93261A}"/>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4" name="Footer Placeholder 3">
            <a:extLst>
              <a:ext uri="{FF2B5EF4-FFF2-40B4-BE49-F238E27FC236}">
                <a16:creationId xmlns:a16="http://schemas.microsoft.com/office/drawing/2014/main" id="{DC820B51-A070-6C02-EAB0-E650F30433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539871-634E-A60B-76C9-E2C952F2E1FD}"/>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103242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8AD2E7-D136-89AB-00D4-791B46A41498}"/>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3" name="Footer Placeholder 2">
            <a:extLst>
              <a:ext uri="{FF2B5EF4-FFF2-40B4-BE49-F238E27FC236}">
                <a16:creationId xmlns:a16="http://schemas.microsoft.com/office/drawing/2014/main" id="{DE5989F4-9865-2DF4-B4A0-976659B9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DB78FD-0A1C-6CF3-E2B1-72DA008768D8}"/>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2912210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F188A-DB4E-BEA4-880E-11B6058A03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336ADB-0466-886D-E916-3B4964BA93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FE2D32B-01FD-939E-CE4E-22651CC6C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D9C9A5-D3D7-6AA8-A75C-E26D17165A07}"/>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6" name="Footer Placeholder 5">
            <a:extLst>
              <a:ext uri="{FF2B5EF4-FFF2-40B4-BE49-F238E27FC236}">
                <a16:creationId xmlns:a16="http://schemas.microsoft.com/office/drawing/2014/main" id="{1FB4C58B-19D5-C339-5066-98D309E8A0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79A070-FD9D-A699-D241-5FFC2661FB99}"/>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1405008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2703-41BC-AF6D-8515-3D4DCBFE4C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03EF9C-3A23-B8B1-091A-BCFE648E05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9336EE-D4FA-1602-7DB5-DE49A2687B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6F5F7-E167-2C53-8A7F-93D29C35DA1E}"/>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6" name="Footer Placeholder 5">
            <a:extLst>
              <a:ext uri="{FF2B5EF4-FFF2-40B4-BE49-F238E27FC236}">
                <a16:creationId xmlns:a16="http://schemas.microsoft.com/office/drawing/2014/main" id="{5D9EEBC2-C96C-380C-E4AD-749163F439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30DA1E-2ABA-1A04-D51E-D9C22534D3DA}"/>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992553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881B7-AF1A-34E9-BE0C-F7386FCBB9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66C08C-0008-119B-CC0C-69B223F697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35DED-8E5D-0435-59A5-DFE127D34319}"/>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5" name="Footer Placeholder 4">
            <a:extLst>
              <a:ext uri="{FF2B5EF4-FFF2-40B4-BE49-F238E27FC236}">
                <a16:creationId xmlns:a16="http://schemas.microsoft.com/office/drawing/2014/main" id="{E0E0A7AD-DD96-30ED-481F-540A42824D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C0C3E4-0DC7-1FDF-2AC1-0EF4D26A0BB4}"/>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3073414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7D2032-A405-F6A8-22D2-42F6C8B872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EF66C7-9D34-074E-F1CD-D29F1361D2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6E8A9E-14FA-0425-EB26-37B7D0728599}"/>
              </a:ext>
            </a:extLst>
          </p:cNvPr>
          <p:cNvSpPr>
            <a:spLocks noGrp="1"/>
          </p:cNvSpPr>
          <p:nvPr>
            <p:ph type="dt" sz="half" idx="10"/>
          </p:nvPr>
        </p:nvSpPr>
        <p:spPr/>
        <p:txBody>
          <a:bodyPr/>
          <a:lstStyle/>
          <a:p>
            <a:fld id="{76965C12-33FE-42DE-A554-9354EA23FA06}" type="datetimeFigureOut">
              <a:rPr lang="en-US" smtClean="0"/>
              <a:t>12/11/2025</a:t>
            </a:fld>
            <a:endParaRPr lang="en-US"/>
          </a:p>
        </p:txBody>
      </p:sp>
      <p:sp>
        <p:nvSpPr>
          <p:cNvPr id="5" name="Footer Placeholder 4">
            <a:extLst>
              <a:ext uri="{FF2B5EF4-FFF2-40B4-BE49-F238E27FC236}">
                <a16:creationId xmlns:a16="http://schemas.microsoft.com/office/drawing/2014/main" id="{9938BA91-0A59-D28A-3A72-71476EABA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D619D3-A7AC-6865-07D3-0A7EBDA23169}"/>
              </a:ext>
            </a:extLst>
          </p:cNvPr>
          <p:cNvSpPr>
            <a:spLocks noGrp="1"/>
          </p:cNvSpPr>
          <p:nvPr>
            <p:ph type="sldNum" sz="quarter" idx="12"/>
          </p:nvPr>
        </p:nvSpPr>
        <p:spPr/>
        <p:txBody>
          <a:bodyPr/>
          <a:lstStyle/>
          <a:p>
            <a:fld id="{74622923-4493-4C9A-B5CC-58F06A3E0073}" type="slidenum">
              <a:rPr lang="en-US" smtClean="0"/>
              <a:t>‹#›</a:t>
            </a:fld>
            <a:endParaRPr lang="en-US"/>
          </a:p>
        </p:txBody>
      </p:sp>
    </p:spTree>
    <p:extLst>
      <p:ext uri="{BB962C8B-B14F-4D97-AF65-F5344CB8AC3E}">
        <p14:creationId xmlns:p14="http://schemas.microsoft.com/office/powerpoint/2010/main" val="3123967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8EB76B-B915-25F1-882C-EA341F7447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DB598C-7DA7-3D77-5072-F84708E436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2D9414-6775-5189-D0A2-30E40F232D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965C12-33FE-42DE-A554-9354EA23FA06}" type="datetimeFigureOut">
              <a:rPr lang="en-US" smtClean="0"/>
              <a:t>12/11/2025</a:t>
            </a:fld>
            <a:endParaRPr lang="en-US"/>
          </a:p>
        </p:txBody>
      </p:sp>
      <p:sp>
        <p:nvSpPr>
          <p:cNvPr id="5" name="Footer Placeholder 4">
            <a:extLst>
              <a:ext uri="{FF2B5EF4-FFF2-40B4-BE49-F238E27FC236}">
                <a16:creationId xmlns:a16="http://schemas.microsoft.com/office/drawing/2014/main" id="{12102CB2-DE34-7D34-FA68-F8C5032DEA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E9DFE8-FF2F-3538-47B8-8983FC58D2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622923-4493-4C9A-B5CC-58F06A3E0073}" type="slidenum">
              <a:rPr lang="en-US" smtClean="0"/>
              <a:t>‹#›</a:t>
            </a:fld>
            <a:endParaRPr lang="en-US"/>
          </a:p>
        </p:txBody>
      </p:sp>
    </p:spTree>
    <p:extLst>
      <p:ext uri="{BB962C8B-B14F-4D97-AF65-F5344CB8AC3E}">
        <p14:creationId xmlns:p14="http://schemas.microsoft.com/office/powerpoint/2010/main" val="3317226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image" Target="../media/image16.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jpeg"/><Relationship Id="rId10" Type="http://schemas.openxmlformats.org/officeDocument/2006/relationships/image" Target="../media/image14.jpeg"/><Relationship Id="rId4" Type="http://schemas.microsoft.com/office/2007/relationships/hdphoto" Target="../media/hdphoto1.wdp"/><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5C69E-EAFC-0668-887F-16AAEF4834E8}"/>
              </a:ext>
            </a:extLst>
          </p:cNvPr>
          <p:cNvSpPr>
            <a:spLocks noGrp="1"/>
          </p:cNvSpPr>
          <p:nvPr>
            <p:ph type="ctrTitle"/>
          </p:nvPr>
        </p:nvSpPr>
        <p:spPr/>
        <p:txBody>
          <a:bodyPr/>
          <a:lstStyle/>
          <a:p>
            <a:r>
              <a:rPr lang="en-US" dirty="0"/>
              <a:t>SHIRE MVP Plan</a:t>
            </a:r>
          </a:p>
        </p:txBody>
      </p:sp>
      <p:sp>
        <p:nvSpPr>
          <p:cNvPr id="3" name="Subtitle 2">
            <a:extLst>
              <a:ext uri="{FF2B5EF4-FFF2-40B4-BE49-F238E27FC236}">
                <a16:creationId xmlns:a16="http://schemas.microsoft.com/office/drawing/2014/main" id="{9C409128-A2B4-95D7-F5C1-DCB030D8335C}"/>
              </a:ext>
            </a:extLst>
          </p:cNvPr>
          <p:cNvSpPr>
            <a:spLocks noGrp="1"/>
          </p:cNvSpPr>
          <p:nvPr>
            <p:ph type="subTitle" idx="1"/>
          </p:nvPr>
        </p:nvSpPr>
        <p:spPr/>
        <p:txBody>
          <a:bodyPr/>
          <a:lstStyle/>
          <a:p>
            <a:r>
              <a:rPr lang="en-US" dirty="0"/>
              <a:t>SHIRE MVP on RBC environment.</a:t>
            </a:r>
          </a:p>
        </p:txBody>
      </p:sp>
    </p:spTree>
    <p:extLst>
      <p:ext uri="{BB962C8B-B14F-4D97-AF65-F5344CB8AC3E}">
        <p14:creationId xmlns:p14="http://schemas.microsoft.com/office/powerpoint/2010/main" val="3225076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3BD3C-7385-F4C4-F8B3-E2E8ABC523F4}"/>
            </a:ext>
          </a:extLst>
        </p:cNvPr>
        <p:cNvGrpSpPr/>
        <p:nvPr/>
      </p:nvGrpSpPr>
      <p:grpSpPr>
        <a:xfrm>
          <a:off x="0" y="0"/>
          <a:ext cx="0" cy="0"/>
          <a:chOff x="0" y="0"/>
          <a:chExt cx="0" cy="0"/>
        </a:xfrm>
      </p:grpSpPr>
      <p:pic>
        <p:nvPicPr>
          <p:cNvPr id="1028" name="Picture 4" descr="Developer - Free computer icons">
            <a:extLst>
              <a:ext uri="{FF2B5EF4-FFF2-40B4-BE49-F238E27FC236}">
                <a16:creationId xmlns:a16="http://schemas.microsoft.com/office/drawing/2014/main" id="{13571421-0B1F-B415-37BE-E4C1EC251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2548" y="3653564"/>
            <a:ext cx="683491" cy="683491"/>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CEB10097-8D12-638C-EF3A-1A5A2A0DAEBC}"/>
              </a:ext>
            </a:extLst>
          </p:cNvPr>
          <p:cNvGrpSpPr/>
          <p:nvPr/>
        </p:nvGrpSpPr>
        <p:grpSpPr>
          <a:xfrm>
            <a:off x="4079010" y="1743111"/>
            <a:ext cx="1012862" cy="915230"/>
            <a:chOff x="1939637" y="2144314"/>
            <a:chExt cx="1012862" cy="915230"/>
          </a:xfrm>
        </p:grpSpPr>
        <p:pic>
          <p:nvPicPr>
            <p:cNvPr id="1030" name="Picture 6">
              <a:extLst>
                <a:ext uri="{FF2B5EF4-FFF2-40B4-BE49-F238E27FC236}">
                  <a16:creationId xmlns:a16="http://schemas.microsoft.com/office/drawing/2014/main" id="{6458BAED-5DC3-4815-7F60-D8C0C37F6196}"/>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p:blipFill>
          <p:spPr bwMode="auto">
            <a:xfrm>
              <a:off x="1939637" y="2376053"/>
              <a:ext cx="683491" cy="68349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ulnerability Generic color outline icon | Freepik">
              <a:extLst>
                <a:ext uri="{FF2B5EF4-FFF2-40B4-BE49-F238E27FC236}">
                  <a16:creationId xmlns:a16="http://schemas.microsoft.com/office/drawing/2014/main" id="{767E7D77-7963-55BC-B0C8-5DD9C15E883B}"/>
                </a:ext>
              </a:extLst>
            </p:cNvPr>
            <p:cNvPicPr>
              <a:picLocks noChangeAspect="1" noChangeArrowheads="1"/>
            </p:cNvPicPr>
            <p:nvPr/>
          </p:nvPicPr>
          <p:blipFill>
            <a:blip r:embed="rId4">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2354443" y="2144314"/>
              <a:ext cx="598056" cy="598056"/>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6">
            <a:extLst>
              <a:ext uri="{FF2B5EF4-FFF2-40B4-BE49-F238E27FC236}">
                <a16:creationId xmlns:a16="http://schemas.microsoft.com/office/drawing/2014/main" id="{773AA90B-AC7A-5A0B-36E9-2077333F13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192521" y="3709562"/>
            <a:ext cx="683491" cy="68349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Dashboard Tableau Software Data visualization Infographic Information,  infographic, text png | PNGEgg">
            <a:extLst>
              <a:ext uri="{FF2B5EF4-FFF2-40B4-BE49-F238E27FC236}">
                <a16:creationId xmlns:a16="http://schemas.microsoft.com/office/drawing/2014/main" id="{578552AC-3DB1-ACAE-27E5-D9AEC9BAB52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6721" t="17212" r="26296" b="18632"/>
          <a:stretch>
            <a:fillRect/>
          </a:stretch>
        </p:blipFill>
        <p:spPr bwMode="auto">
          <a:xfrm>
            <a:off x="371875" y="3801343"/>
            <a:ext cx="769859" cy="598056"/>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0A97CB5C-7477-9D4E-B35A-980C2D60FAD0}"/>
              </a:ext>
            </a:extLst>
          </p:cNvPr>
          <p:cNvGrpSpPr/>
          <p:nvPr/>
        </p:nvGrpSpPr>
        <p:grpSpPr>
          <a:xfrm>
            <a:off x="2213041" y="2562513"/>
            <a:ext cx="616751" cy="3118432"/>
            <a:chOff x="2462423" y="2036041"/>
            <a:chExt cx="616751" cy="3118432"/>
          </a:xfrm>
        </p:grpSpPr>
        <p:pic>
          <p:nvPicPr>
            <p:cNvPr id="1038" name="Picture 14" descr="Vulnerability Generic color outline icon | Freepik">
              <a:extLst>
                <a:ext uri="{FF2B5EF4-FFF2-40B4-BE49-F238E27FC236}">
                  <a16:creationId xmlns:a16="http://schemas.microsoft.com/office/drawing/2014/main" id="{11812950-D54B-15E8-372E-EE38E207C5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2423" y="3274871"/>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4" descr="Vulnerability Generic color outline icon | Freepik">
              <a:extLst>
                <a:ext uri="{FF2B5EF4-FFF2-40B4-BE49-F238E27FC236}">
                  <a16:creationId xmlns:a16="http://schemas.microsoft.com/office/drawing/2014/main" id="{1777A2DD-7AA5-5E92-2FF8-1033EC43AC12}"/>
                </a:ext>
              </a:extLst>
            </p:cNvPr>
            <p:cNvPicPr>
              <a:picLocks noChangeAspect="1" noChangeArrowheads="1"/>
            </p:cNvPicPr>
            <p:nvPr/>
          </p:nvPicPr>
          <p:blipFill>
            <a:blip r:embed="rId4">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1118" y="2634097"/>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descr="Vulnerability Generic color outline icon | Freepik">
              <a:extLst>
                <a:ext uri="{FF2B5EF4-FFF2-40B4-BE49-F238E27FC236}">
                  <a16:creationId xmlns:a16="http://schemas.microsoft.com/office/drawing/2014/main" id="{6F305381-73BC-987C-1BAD-6DEB80C3D187}"/>
                </a:ext>
              </a:extLst>
            </p:cNvPr>
            <p:cNvPicPr>
              <a:picLocks noChangeAspect="1" noChangeArrowheads="1"/>
            </p:cNvPicPr>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462423" y="2036041"/>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descr="Vulnerability Generic color outline icon | Freepik">
              <a:extLst>
                <a:ext uri="{FF2B5EF4-FFF2-40B4-BE49-F238E27FC236}">
                  <a16:creationId xmlns:a16="http://schemas.microsoft.com/office/drawing/2014/main" id="{ED54DCE2-639A-6846-84E9-6E18F08F244A}"/>
                </a:ext>
              </a:extLst>
            </p:cNvPr>
            <p:cNvPicPr>
              <a:picLocks noChangeAspect="1" noChangeArrowheads="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62423" y="3915644"/>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4" descr="Vulnerability Generic color outline icon | Freepik">
              <a:extLst>
                <a:ext uri="{FF2B5EF4-FFF2-40B4-BE49-F238E27FC236}">
                  <a16:creationId xmlns:a16="http://schemas.microsoft.com/office/drawing/2014/main" id="{869B8855-2688-9527-902E-93376E3AC04E}"/>
                </a:ext>
              </a:extLst>
            </p:cNvPr>
            <p:cNvPicPr>
              <a:picLocks noChangeAspect="1" noChangeArrowheads="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62423" y="4556417"/>
              <a:ext cx="598056" cy="598056"/>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Arrow: Right 20">
            <a:extLst>
              <a:ext uri="{FF2B5EF4-FFF2-40B4-BE49-F238E27FC236}">
                <a16:creationId xmlns:a16="http://schemas.microsoft.com/office/drawing/2014/main" id="{CE5E6962-8A82-2739-4DDD-9235CADE8646}"/>
              </a:ext>
            </a:extLst>
          </p:cNvPr>
          <p:cNvSpPr/>
          <p:nvPr/>
        </p:nvSpPr>
        <p:spPr>
          <a:xfrm>
            <a:off x="1362829" y="3995309"/>
            <a:ext cx="598056" cy="1726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34F20160-067C-AC63-24FD-5214528C78C2}"/>
              </a:ext>
            </a:extLst>
          </p:cNvPr>
          <p:cNvSpPr/>
          <p:nvPr/>
        </p:nvSpPr>
        <p:spPr>
          <a:xfrm>
            <a:off x="3217142" y="3995308"/>
            <a:ext cx="598056" cy="1726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Left-Right 22">
            <a:extLst>
              <a:ext uri="{FF2B5EF4-FFF2-40B4-BE49-F238E27FC236}">
                <a16:creationId xmlns:a16="http://schemas.microsoft.com/office/drawing/2014/main" id="{BF9D72D5-CD53-2DDC-B8DE-37ACD51A74D4}"/>
              </a:ext>
            </a:extLst>
          </p:cNvPr>
          <p:cNvSpPr/>
          <p:nvPr/>
        </p:nvSpPr>
        <p:spPr>
          <a:xfrm rot="16200000">
            <a:off x="4150016" y="3037610"/>
            <a:ext cx="683491" cy="16048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D28B593A-4BAD-D949-E020-FDBDB62989E7}"/>
              </a:ext>
            </a:extLst>
          </p:cNvPr>
          <p:cNvSpPr/>
          <p:nvPr/>
        </p:nvSpPr>
        <p:spPr>
          <a:xfrm>
            <a:off x="5273389" y="4014070"/>
            <a:ext cx="598056" cy="1726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1DA3928-6A2F-F758-89BB-89D0EC76DB1A}"/>
              </a:ext>
            </a:extLst>
          </p:cNvPr>
          <p:cNvSpPr txBox="1"/>
          <p:nvPr/>
        </p:nvSpPr>
        <p:spPr>
          <a:xfrm>
            <a:off x="4544293" y="2948574"/>
            <a:ext cx="497252" cy="338554"/>
          </a:xfrm>
          <a:prstGeom prst="rect">
            <a:avLst/>
          </a:prstGeom>
          <a:noFill/>
        </p:spPr>
        <p:txBody>
          <a:bodyPr wrap="none" rtlCol="0">
            <a:spAutoFit/>
          </a:bodyPr>
          <a:lstStyle/>
          <a:p>
            <a:r>
              <a:rPr lang="en-US" sz="1600" dirty="0"/>
              <a:t>ssh</a:t>
            </a:r>
          </a:p>
        </p:txBody>
      </p:sp>
      <p:sp>
        <p:nvSpPr>
          <p:cNvPr id="26" name="Speech Bubble: Rectangle with Corners Rounded 25">
            <a:extLst>
              <a:ext uri="{FF2B5EF4-FFF2-40B4-BE49-F238E27FC236}">
                <a16:creationId xmlns:a16="http://schemas.microsoft.com/office/drawing/2014/main" id="{7164257C-7888-81DF-A81F-733EB4B7DA2A}"/>
              </a:ext>
            </a:extLst>
          </p:cNvPr>
          <p:cNvSpPr/>
          <p:nvPr/>
        </p:nvSpPr>
        <p:spPr>
          <a:xfrm>
            <a:off x="5434564" y="1690836"/>
            <a:ext cx="1747862" cy="683491"/>
          </a:xfrm>
          <a:prstGeom prst="wedgeRoundRectCallout">
            <a:avLst>
              <a:gd name="adj1" fmla="val -71281"/>
              <a:gd name="adj2" fmla="val 20273"/>
              <a:gd name="adj3" fmla="val 16667"/>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mic Sans MS" panose="030F0702030302020204" pitchFamily="66" charset="0"/>
              </a:rPr>
              <a:t>Live VM with a vulnerability.</a:t>
            </a:r>
          </a:p>
        </p:txBody>
      </p:sp>
      <p:sp>
        <p:nvSpPr>
          <p:cNvPr id="27" name="Speech Bubble: Rectangle with Corners Rounded 26">
            <a:extLst>
              <a:ext uri="{FF2B5EF4-FFF2-40B4-BE49-F238E27FC236}">
                <a16:creationId xmlns:a16="http://schemas.microsoft.com/office/drawing/2014/main" id="{550B0F0A-EE4F-E24E-9B9D-A3BE83AFB7FB}"/>
              </a:ext>
            </a:extLst>
          </p:cNvPr>
          <p:cNvSpPr/>
          <p:nvPr/>
        </p:nvSpPr>
        <p:spPr>
          <a:xfrm>
            <a:off x="4079010" y="4970173"/>
            <a:ext cx="3565236" cy="1271154"/>
          </a:xfrm>
          <a:prstGeom prst="wedgeRoundRectCallout">
            <a:avLst>
              <a:gd name="adj1" fmla="val -34823"/>
              <a:gd name="adj2" fmla="val -87182"/>
              <a:gd name="adj3" fmla="val 16667"/>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mic Sans MS" panose="030F0702030302020204" pitchFamily="66" charset="0"/>
              </a:rPr>
              <a:t>Dev with knowledge of the:</a:t>
            </a:r>
            <a:endParaRPr lang="en-US" sz="1200" dirty="0">
              <a:solidFill>
                <a:schemeClr val="tx1"/>
              </a:solidFill>
              <a:latin typeface="Comic Sans MS" panose="030F0702030302020204" pitchFamily="66" charset="0"/>
            </a:endParaRPr>
          </a:p>
          <a:p>
            <a:pPr marL="342900" indent="-342900">
              <a:buAutoNum type="arabicPeriod"/>
            </a:pPr>
            <a:r>
              <a:rPr lang="en-US" sz="1200" dirty="0">
                <a:solidFill>
                  <a:schemeClr val="tx1"/>
                </a:solidFill>
                <a:latin typeface="Comic Sans MS" panose="030F0702030302020204" pitchFamily="66" charset="0"/>
              </a:rPr>
              <a:t>VM (OS, app directory, file structure, libraries installed, and others)</a:t>
            </a:r>
          </a:p>
          <a:p>
            <a:pPr marL="342900" indent="-342900">
              <a:buAutoNum type="arabicPeriod"/>
            </a:pPr>
            <a:r>
              <a:rPr lang="en-US" sz="1200" dirty="0">
                <a:solidFill>
                  <a:schemeClr val="tx1"/>
                </a:solidFill>
                <a:latin typeface="Comic Sans MS" panose="030F0702030302020204" pitchFamily="66" charset="0"/>
              </a:rPr>
              <a:t>Vulnerability (Vuln ID, CVE details, how to fix, previous resolution knowledge, resolution steps from internal tool)</a:t>
            </a:r>
          </a:p>
        </p:txBody>
      </p:sp>
      <p:sp>
        <p:nvSpPr>
          <p:cNvPr id="43" name="Title 1">
            <a:extLst>
              <a:ext uri="{FF2B5EF4-FFF2-40B4-BE49-F238E27FC236}">
                <a16:creationId xmlns:a16="http://schemas.microsoft.com/office/drawing/2014/main" id="{9CF6AE1F-283A-91CF-AF75-17B5C2EF6F08}"/>
              </a:ext>
            </a:extLst>
          </p:cNvPr>
          <p:cNvSpPr>
            <a:spLocks noGrp="1"/>
          </p:cNvSpPr>
          <p:nvPr>
            <p:ph type="title"/>
          </p:nvPr>
        </p:nvSpPr>
        <p:spPr>
          <a:xfrm>
            <a:off x="838200" y="365125"/>
            <a:ext cx="10515600" cy="1325563"/>
          </a:xfrm>
        </p:spPr>
        <p:txBody>
          <a:bodyPr/>
          <a:lstStyle/>
          <a:p>
            <a:r>
              <a:rPr lang="en-US" dirty="0"/>
              <a:t>Current Procedure</a:t>
            </a:r>
          </a:p>
        </p:txBody>
      </p:sp>
      <p:sp>
        <p:nvSpPr>
          <p:cNvPr id="44" name="TextBox 43">
            <a:extLst>
              <a:ext uri="{FF2B5EF4-FFF2-40B4-BE49-F238E27FC236}">
                <a16:creationId xmlns:a16="http://schemas.microsoft.com/office/drawing/2014/main" id="{36621623-F8F3-9F79-159D-46683A718DC9}"/>
              </a:ext>
            </a:extLst>
          </p:cNvPr>
          <p:cNvSpPr txBox="1"/>
          <p:nvPr/>
        </p:nvSpPr>
        <p:spPr>
          <a:xfrm>
            <a:off x="9525529" y="4517822"/>
            <a:ext cx="2538708" cy="338554"/>
          </a:xfrm>
          <a:prstGeom prst="rect">
            <a:avLst/>
          </a:prstGeom>
          <a:noFill/>
        </p:spPr>
        <p:txBody>
          <a:bodyPr wrap="none" rtlCol="0">
            <a:spAutoFit/>
          </a:bodyPr>
          <a:lstStyle/>
          <a:p>
            <a:r>
              <a:rPr lang="en-US" sz="1600" dirty="0"/>
              <a:t>- SHIRE Agentic AI solution</a:t>
            </a:r>
          </a:p>
        </p:txBody>
      </p:sp>
      <p:pic>
        <p:nvPicPr>
          <p:cNvPr id="45" name="Picture 14" descr="Vulnerability Generic color outline icon | Freepik">
            <a:extLst>
              <a:ext uri="{FF2B5EF4-FFF2-40B4-BE49-F238E27FC236}">
                <a16:creationId xmlns:a16="http://schemas.microsoft.com/office/drawing/2014/main" id="{2A12B061-815D-CA09-C87F-65672FB76060}"/>
              </a:ext>
            </a:extLst>
          </p:cNvPr>
          <p:cNvPicPr>
            <a:picLocks noChangeAspect="1" noChangeArrowheads="1"/>
          </p:cNvPicPr>
          <p:nvPr/>
        </p:nvPicPr>
        <p:blipFill>
          <a:blip r:embed="rId4">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9050991" y="4973643"/>
            <a:ext cx="354229" cy="354229"/>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FE678137-C81A-5ABE-2A26-4E0D5745202F}"/>
              </a:ext>
            </a:extLst>
          </p:cNvPr>
          <p:cNvSpPr txBox="1"/>
          <p:nvPr/>
        </p:nvSpPr>
        <p:spPr>
          <a:xfrm>
            <a:off x="9534765" y="4965199"/>
            <a:ext cx="1398588" cy="338554"/>
          </a:xfrm>
          <a:prstGeom prst="rect">
            <a:avLst/>
          </a:prstGeom>
          <a:noFill/>
        </p:spPr>
        <p:txBody>
          <a:bodyPr wrap="none" rtlCol="0">
            <a:spAutoFit/>
          </a:bodyPr>
          <a:lstStyle/>
          <a:p>
            <a:r>
              <a:rPr lang="en-US" sz="1600" dirty="0"/>
              <a:t>- Vulnerability</a:t>
            </a:r>
          </a:p>
        </p:txBody>
      </p:sp>
      <p:grpSp>
        <p:nvGrpSpPr>
          <p:cNvPr id="47" name="Group 46">
            <a:extLst>
              <a:ext uri="{FF2B5EF4-FFF2-40B4-BE49-F238E27FC236}">
                <a16:creationId xmlns:a16="http://schemas.microsoft.com/office/drawing/2014/main" id="{6C881A90-0D5A-D3C6-8FED-A4AF74428F0E}"/>
              </a:ext>
            </a:extLst>
          </p:cNvPr>
          <p:cNvGrpSpPr/>
          <p:nvPr/>
        </p:nvGrpSpPr>
        <p:grpSpPr>
          <a:xfrm>
            <a:off x="9017653" y="5308933"/>
            <a:ext cx="511003" cy="448472"/>
            <a:chOff x="1939637" y="2162602"/>
            <a:chExt cx="1022006" cy="896944"/>
          </a:xfrm>
        </p:grpSpPr>
        <p:pic>
          <p:nvPicPr>
            <p:cNvPr id="48" name="Picture 6">
              <a:extLst>
                <a:ext uri="{FF2B5EF4-FFF2-40B4-BE49-F238E27FC236}">
                  <a16:creationId xmlns:a16="http://schemas.microsoft.com/office/drawing/2014/main" id="{BAA480EB-70C4-19DF-F0DD-4E2135E9C076}"/>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p:blipFill>
          <p:spPr bwMode="auto">
            <a:xfrm>
              <a:off x="1939637" y="2376054"/>
              <a:ext cx="683492" cy="68349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8" descr="Vulnerability Generic color outline icon | Freepik">
              <a:extLst>
                <a:ext uri="{FF2B5EF4-FFF2-40B4-BE49-F238E27FC236}">
                  <a16:creationId xmlns:a16="http://schemas.microsoft.com/office/drawing/2014/main" id="{2DA636A3-234A-0BEA-8CF9-541401ACD914}"/>
                </a:ext>
              </a:extLst>
            </p:cNvPr>
            <p:cNvPicPr>
              <a:picLocks noChangeAspect="1" noChangeArrowheads="1"/>
            </p:cNvPicPr>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363587" y="2162602"/>
              <a:ext cx="598056" cy="598056"/>
            </a:xfrm>
            <a:prstGeom prst="rect">
              <a:avLst/>
            </a:prstGeom>
            <a:noFill/>
            <a:extLst>
              <a:ext uri="{909E8E84-426E-40DD-AFC4-6F175D3DCCD1}">
                <a14:hiddenFill xmlns:a14="http://schemas.microsoft.com/office/drawing/2010/main">
                  <a:solidFill>
                    <a:srgbClr val="FFFFFF"/>
                  </a:solidFill>
                </a14:hiddenFill>
              </a:ext>
            </a:extLst>
          </p:spPr>
        </p:pic>
      </p:grpSp>
      <p:sp>
        <p:nvSpPr>
          <p:cNvPr id="50" name="TextBox 49">
            <a:extLst>
              <a:ext uri="{FF2B5EF4-FFF2-40B4-BE49-F238E27FC236}">
                <a16:creationId xmlns:a16="http://schemas.microsoft.com/office/drawing/2014/main" id="{E7C7EA20-8846-6F25-B9EB-B870BFF54BCC}"/>
              </a:ext>
            </a:extLst>
          </p:cNvPr>
          <p:cNvSpPr txBox="1"/>
          <p:nvPr/>
        </p:nvSpPr>
        <p:spPr>
          <a:xfrm>
            <a:off x="9529215" y="5382223"/>
            <a:ext cx="1806520" cy="338554"/>
          </a:xfrm>
          <a:prstGeom prst="rect">
            <a:avLst/>
          </a:prstGeom>
          <a:noFill/>
        </p:spPr>
        <p:txBody>
          <a:bodyPr wrap="none" rtlCol="0">
            <a:spAutoFit/>
          </a:bodyPr>
          <a:lstStyle/>
          <a:p>
            <a:r>
              <a:rPr lang="en-US" sz="1600" dirty="0"/>
              <a:t>- Live VM with vuln</a:t>
            </a:r>
          </a:p>
        </p:txBody>
      </p:sp>
      <p:pic>
        <p:nvPicPr>
          <p:cNvPr id="51" name="Picture 12" descr="Dashboard Tableau Software Data visualization Infographic Information,  infographic, text png | PNGEgg">
            <a:extLst>
              <a:ext uri="{FF2B5EF4-FFF2-40B4-BE49-F238E27FC236}">
                <a16:creationId xmlns:a16="http://schemas.microsoft.com/office/drawing/2014/main" id="{3D2E8E87-EF41-7615-8879-53BFEDF79D5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6721" t="17212" r="26296" b="18632"/>
          <a:stretch>
            <a:fillRect/>
          </a:stretch>
        </p:blipFill>
        <p:spPr bwMode="auto">
          <a:xfrm>
            <a:off x="9014047" y="5807613"/>
            <a:ext cx="491372" cy="381717"/>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01F0A41B-529B-05D7-ABC1-09717FE8740B}"/>
              </a:ext>
            </a:extLst>
          </p:cNvPr>
          <p:cNvSpPr txBox="1"/>
          <p:nvPr/>
        </p:nvSpPr>
        <p:spPr>
          <a:xfrm>
            <a:off x="9534765" y="5826085"/>
            <a:ext cx="1987404" cy="338554"/>
          </a:xfrm>
          <a:prstGeom prst="rect">
            <a:avLst/>
          </a:prstGeom>
          <a:noFill/>
        </p:spPr>
        <p:txBody>
          <a:bodyPr wrap="none" rtlCol="0">
            <a:spAutoFit/>
          </a:bodyPr>
          <a:lstStyle/>
          <a:p>
            <a:r>
              <a:rPr lang="en-US" sz="1600" dirty="0"/>
              <a:t>- Tableau dashboard</a:t>
            </a:r>
          </a:p>
        </p:txBody>
      </p:sp>
      <p:pic>
        <p:nvPicPr>
          <p:cNvPr id="53" name="Picture 4" descr="Developer - Free computer icons">
            <a:extLst>
              <a:ext uri="{FF2B5EF4-FFF2-40B4-BE49-F238E27FC236}">
                <a16:creationId xmlns:a16="http://schemas.microsoft.com/office/drawing/2014/main" id="{22198BE6-138F-5CE4-AADD-55E52025B1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1335" y="6252979"/>
            <a:ext cx="435490" cy="435490"/>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53">
            <a:extLst>
              <a:ext uri="{FF2B5EF4-FFF2-40B4-BE49-F238E27FC236}">
                <a16:creationId xmlns:a16="http://schemas.microsoft.com/office/drawing/2014/main" id="{6969EBD5-21A4-108E-53B2-226A67D63C69}"/>
              </a:ext>
            </a:extLst>
          </p:cNvPr>
          <p:cNvSpPr txBox="1"/>
          <p:nvPr/>
        </p:nvSpPr>
        <p:spPr>
          <a:xfrm>
            <a:off x="9544001" y="6305951"/>
            <a:ext cx="1201996" cy="338554"/>
          </a:xfrm>
          <a:prstGeom prst="rect">
            <a:avLst/>
          </a:prstGeom>
          <a:noFill/>
        </p:spPr>
        <p:txBody>
          <a:bodyPr wrap="none" rtlCol="0">
            <a:spAutoFit/>
          </a:bodyPr>
          <a:lstStyle/>
          <a:p>
            <a:r>
              <a:rPr lang="en-US" sz="1600" dirty="0"/>
              <a:t>- Developer</a:t>
            </a:r>
          </a:p>
        </p:txBody>
      </p:sp>
      <p:pic>
        <p:nvPicPr>
          <p:cNvPr id="55" name="Picture 2" descr="🤖 AI Agents vs Agentic AI: The Mind-Blowing Difference That Will Change  Everything | by MahendraMedapati | Towards AI">
            <a:extLst>
              <a:ext uri="{FF2B5EF4-FFF2-40B4-BE49-F238E27FC236}">
                <a16:creationId xmlns:a16="http://schemas.microsoft.com/office/drawing/2014/main" id="{545FE6E0-E495-522E-7D46-51166738521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2594" t="5052" r="2724" b="24200"/>
          <a:stretch>
            <a:fillRect/>
          </a:stretch>
        </p:blipFill>
        <p:spPr bwMode="auto">
          <a:xfrm>
            <a:off x="9020207" y="4483958"/>
            <a:ext cx="385013" cy="406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554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ED61A-DDBA-FAAC-6A05-56811AA60900}"/>
            </a:ext>
          </a:extLst>
        </p:cNvPr>
        <p:cNvGrpSpPr/>
        <p:nvPr/>
      </p:nvGrpSpPr>
      <p:grpSpPr>
        <a:xfrm>
          <a:off x="0" y="0"/>
          <a:ext cx="0" cy="0"/>
          <a:chOff x="0" y="0"/>
          <a:chExt cx="0" cy="0"/>
        </a:xfrm>
      </p:grpSpPr>
      <p:pic>
        <p:nvPicPr>
          <p:cNvPr id="1036" name="Picture 12" descr="Dashboard Tableau Software Data visualization Infographic Information,  infographic, text png | PNGEgg">
            <a:extLst>
              <a:ext uri="{FF2B5EF4-FFF2-40B4-BE49-F238E27FC236}">
                <a16:creationId xmlns:a16="http://schemas.microsoft.com/office/drawing/2014/main" id="{27C584F9-69BA-C372-51EB-DF407D3DD25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721" t="17212" r="26296" b="18632"/>
          <a:stretch>
            <a:fillRect/>
          </a:stretch>
        </p:blipFill>
        <p:spPr bwMode="auto">
          <a:xfrm>
            <a:off x="461611" y="3811157"/>
            <a:ext cx="769859" cy="598056"/>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53F7D752-DC08-5674-B58E-58E206462444}"/>
              </a:ext>
            </a:extLst>
          </p:cNvPr>
          <p:cNvGrpSpPr/>
          <p:nvPr/>
        </p:nvGrpSpPr>
        <p:grpSpPr>
          <a:xfrm>
            <a:off x="2302777" y="2572327"/>
            <a:ext cx="616751" cy="3118432"/>
            <a:chOff x="2462423" y="2036041"/>
            <a:chExt cx="616751" cy="3118432"/>
          </a:xfrm>
        </p:grpSpPr>
        <p:pic>
          <p:nvPicPr>
            <p:cNvPr id="1038" name="Picture 14" descr="Vulnerability Generic color outline icon | Freepik">
              <a:extLst>
                <a:ext uri="{FF2B5EF4-FFF2-40B4-BE49-F238E27FC236}">
                  <a16:creationId xmlns:a16="http://schemas.microsoft.com/office/drawing/2014/main" id="{B8D02794-1245-9977-5DC4-45286453AA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423" y="3274871"/>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4" descr="Vulnerability Generic color outline icon | Freepik">
              <a:extLst>
                <a:ext uri="{FF2B5EF4-FFF2-40B4-BE49-F238E27FC236}">
                  <a16:creationId xmlns:a16="http://schemas.microsoft.com/office/drawing/2014/main" id="{BCE4688C-4F32-3259-27CF-6147A648D664}"/>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1118" y="2634097"/>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descr="Vulnerability Generic color outline icon | Freepik">
              <a:extLst>
                <a:ext uri="{FF2B5EF4-FFF2-40B4-BE49-F238E27FC236}">
                  <a16:creationId xmlns:a16="http://schemas.microsoft.com/office/drawing/2014/main" id="{E2ED0CC7-8AA4-696A-91FA-B6A4F8197F0B}"/>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462423" y="2036041"/>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descr="Vulnerability Generic color outline icon | Freepik">
              <a:extLst>
                <a:ext uri="{FF2B5EF4-FFF2-40B4-BE49-F238E27FC236}">
                  <a16:creationId xmlns:a16="http://schemas.microsoft.com/office/drawing/2014/main" id="{2339552F-B344-7BDC-8B2D-BB6786EC29E9}"/>
                </a:ext>
              </a:extLst>
            </p:cNvPr>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62423" y="3915644"/>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4" descr="Vulnerability Generic color outline icon | Freepik">
              <a:extLst>
                <a:ext uri="{FF2B5EF4-FFF2-40B4-BE49-F238E27FC236}">
                  <a16:creationId xmlns:a16="http://schemas.microsoft.com/office/drawing/2014/main" id="{B55EA4FA-6D4A-089A-2FDC-1374FF0EB949}"/>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62423" y="4556417"/>
              <a:ext cx="598056" cy="598056"/>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Arrow: Right 20">
            <a:extLst>
              <a:ext uri="{FF2B5EF4-FFF2-40B4-BE49-F238E27FC236}">
                <a16:creationId xmlns:a16="http://schemas.microsoft.com/office/drawing/2014/main" id="{2DCD23F5-8DFA-9CFC-724B-7BFD06488A13}"/>
              </a:ext>
            </a:extLst>
          </p:cNvPr>
          <p:cNvSpPr/>
          <p:nvPr/>
        </p:nvSpPr>
        <p:spPr>
          <a:xfrm>
            <a:off x="1452565" y="4005123"/>
            <a:ext cx="598056" cy="1726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C13EADEC-D6A8-E528-634F-AEA1F9C0E427}"/>
              </a:ext>
            </a:extLst>
          </p:cNvPr>
          <p:cNvSpPr/>
          <p:nvPr/>
        </p:nvSpPr>
        <p:spPr>
          <a:xfrm>
            <a:off x="3306878" y="4005122"/>
            <a:ext cx="598056" cy="1726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Left-Right 22">
            <a:extLst>
              <a:ext uri="{FF2B5EF4-FFF2-40B4-BE49-F238E27FC236}">
                <a16:creationId xmlns:a16="http://schemas.microsoft.com/office/drawing/2014/main" id="{0C293613-7F95-78F8-4320-46B9377A0D3C}"/>
              </a:ext>
            </a:extLst>
          </p:cNvPr>
          <p:cNvSpPr/>
          <p:nvPr/>
        </p:nvSpPr>
        <p:spPr>
          <a:xfrm rot="16200000">
            <a:off x="4239752" y="3047424"/>
            <a:ext cx="683491" cy="16048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D315D3B0-5EA5-2D9A-C812-E25DD57CEA4E}"/>
              </a:ext>
            </a:extLst>
          </p:cNvPr>
          <p:cNvSpPr/>
          <p:nvPr/>
        </p:nvSpPr>
        <p:spPr>
          <a:xfrm>
            <a:off x="5363125" y="4023884"/>
            <a:ext cx="598056" cy="1726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C5B8536-43FB-6841-0B2B-1C25829DB8FD}"/>
              </a:ext>
            </a:extLst>
          </p:cNvPr>
          <p:cNvSpPr txBox="1"/>
          <p:nvPr/>
        </p:nvSpPr>
        <p:spPr>
          <a:xfrm>
            <a:off x="4634029" y="2958388"/>
            <a:ext cx="497252" cy="338554"/>
          </a:xfrm>
          <a:prstGeom prst="rect">
            <a:avLst/>
          </a:prstGeom>
          <a:noFill/>
        </p:spPr>
        <p:txBody>
          <a:bodyPr wrap="none" rtlCol="0">
            <a:spAutoFit/>
          </a:bodyPr>
          <a:lstStyle/>
          <a:p>
            <a:r>
              <a:rPr lang="en-US" sz="1600" dirty="0"/>
              <a:t>ssh</a:t>
            </a:r>
          </a:p>
        </p:txBody>
      </p:sp>
      <p:sp>
        <p:nvSpPr>
          <p:cNvPr id="26" name="Speech Bubble: Rectangle with Corners Rounded 25">
            <a:extLst>
              <a:ext uri="{FF2B5EF4-FFF2-40B4-BE49-F238E27FC236}">
                <a16:creationId xmlns:a16="http://schemas.microsoft.com/office/drawing/2014/main" id="{61E4E3CE-F36E-FD34-889E-8EDD2B0EC5D6}"/>
              </a:ext>
            </a:extLst>
          </p:cNvPr>
          <p:cNvSpPr/>
          <p:nvPr/>
        </p:nvSpPr>
        <p:spPr>
          <a:xfrm>
            <a:off x="5422821" y="1363517"/>
            <a:ext cx="1542927" cy="598056"/>
          </a:xfrm>
          <a:prstGeom prst="wedgeRoundRectCallout">
            <a:avLst>
              <a:gd name="adj1" fmla="val -63434"/>
              <a:gd name="adj2" fmla="val 49705"/>
              <a:gd name="adj3" fmla="val 16667"/>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Live VM with a vulnerability.</a:t>
            </a:r>
          </a:p>
        </p:txBody>
      </p:sp>
      <p:sp>
        <p:nvSpPr>
          <p:cNvPr id="31" name="TextBox 30">
            <a:extLst>
              <a:ext uri="{FF2B5EF4-FFF2-40B4-BE49-F238E27FC236}">
                <a16:creationId xmlns:a16="http://schemas.microsoft.com/office/drawing/2014/main" id="{411E18EE-878B-1649-0A62-7FAF3C057003}"/>
              </a:ext>
            </a:extLst>
          </p:cNvPr>
          <p:cNvSpPr txBox="1"/>
          <p:nvPr/>
        </p:nvSpPr>
        <p:spPr>
          <a:xfrm>
            <a:off x="9525529" y="4517822"/>
            <a:ext cx="2538708" cy="338554"/>
          </a:xfrm>
          <a:prstGeom prst="rect">
            <a:avLst/>
          </a:prstGeom>
          <a:noFill/>
        </p:spPr>
        <p:txBody>
          <a:bodyPr wrap="none" rtlCol="0">
            <a:spAutoFit/>
          </a:bodyPr>
          <a:lstStyle/>
          <a:p>
            <a:r>
              <a:rPr lang="en-US" sz="1600" dirty="0"/>
              <a:t>- SHIRE Agentic AI solution</a:t>
            </a:r>
          </a:p>
        </p:txBody>
      </p:sp>
      <p:pic>
        <p:nvPicPr>
          <p:cNvPr id="33" name="Picture 14" descr="Vulnerability Generic color outline icon | Freepik">
            <a:extLst>
              <a:ext uri="{FF2B5EF4-FFF2-40B4-BE49-F238E27FC236}">
                <a16:creationId xmlns:a16="http://schemas.microsoft.com/office/drawing/2014/main" id="{0D06B2CB-5B0F-5B79-6F6E-43ED3A6F3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0991" y="4973643"/>
            <a:ext cx="354229" cy="354229"/>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ECCCA203-6E0E-21F4-908D-86429B842E33}"/>
              </a:ext>
            </a:extLst>
          </p:cNvPr>
          <p:cNvSpPr txBox="1"/>
          <p:nvPr/>
        </p:nvSpPr>
        <p:spPr>
          <a:xfrm>
            <a:off x="9534765" y="4965199"/>
            <a:ext cx="1398588" cy="338554"/>
          </a:xfrm>
          <a:prstGeom prst="rect">
            <a:avLst/>
          </a:prstGeom>
          <a:noFill/>
        </p:spPr>
        <p:txBody>
          <a:bodyPr wrap="none" rtlCol="0">
            <a:spAutoFit/>
          </a:bodyPr>
          <a:lstStyle/>
          <a:p>
            <a:r>
              <a:rPr lang="en-US" sz="1600" dirty="0"/>
              <a:t>- Vulnerability</a:t>
            </a:r>
          </a:p>
        </p:txBody>
      </p:sp>
      <p:sp>
        <p:nvSpPr>
          <p:cNvPr id="38" name="TextBox 37">
            <a:extLst>
              <a:ext uri="{FF2B5EF4-FFF2-40B4-BE49-F238E27FC236}">
                <a16:creationId xmlns:a16="http://schemas.microsoft.com/office/drawing/2014/main" id="{7534E936-D6DF-3B58-C665-828A8B36AAB6}"/>
              </a:ext>
            </a:extLst>
          </p:cNvPr>
          <p:cNvSpPr txBox="1"/>
          <p:nvPr/>
        </p:nvSpPr>
        <p:spPr>
          <a:xfrm>
            <a:off x="9529215" y="5382223"/>
            <a:ext cx="1806520" cy="338554"/>
          </a:xfrm>
          <a:prstGeom prst="rect">
            <a:avLst/>
          </a:prstGeom>
          <a:noFill/>
        </p:spPr>
        <p:txBody>
          <a:bodyPr wrap="none" rtlCol="0">
            <a:spAutoFit/>
          </a:bodyPr>
          <a:lstStyle/>
          <a:p>
            <a:r>
              <a:rPr lang="en-US" sz="1600" dirty="0"/>
              <a:t>- Live VM with vuln</a:t>
            </a:r>
          </a:p>
        </p:txBody>
      </p:sp>
      <p:pic>
        <p:nvPicPr>
          <p:cNvPr id="39" name="Picture 12" descr="Dashboard Tableau Software Data visualization Infographic Information,  infographic, text png | PNGEgg">
            <a:extLst>
              <a:ext uri="{FF2B5EF4-FFF2-40B4-BE49-F238E27FC236}">
                <a16:creationId xmlns:a16="http://schemas.microsoft.com/office/drawing/2014/main" id="{E26C683C-D90F-89A3-1137-160CE32174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721" t="17212" r="26296" b="18632"/>
          <a:stretch>
            <a:fillRect/>
          </a:stretch>
        </p:blipFill>
        <p:spPr bwMode="auto">
          <a:xfrm>
            <a:off x="9014047" y="5807613"/>
            <a:ext cx="491372" cy="381717"/>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750D8238-4EEB-5A77-952A-F03D4F24B1C8}"/>
              </a:ext>
            </a:extLst>
          </p:cNvPr>
          <p:cNvSpPr txBox="1"/>
          <p:nvPr/>
        </p:nvSpPr>
        <p:spPr>
          <a:xfrm>
            <a:off x="9534765" y="5826085"/>
            <a:ext cx="1987404" cy="338554"/>
          </a:xfrm>
          <a:prstGeom prst="rect">
            <a:avLst/>
          </a:prstGeom>
          <a:noFill/>
        </p:spPr>
        <p:txBody>
          <a:bodyPr wrap="none" rtlCol="0">
            <a:spAutoFit/>
          </a:bodyPr>
          <a:lstStyle/>
          <a:p>
            <a:r>
              <a:rPr lang="en-US" sz="1600" dirty="0"/>
              <a:t>- Tableau dashboard</a:t>
            </a:r>
          </a:p>
        </p:txBody>
      </p:sp>
      <p:pic>
        <p:nvPicPr>
          <p:cNvPr id="41" name="Picture 4" descr="Developer - Free computer icons">
            <a:extLst>
              <a:ext uri="{FF2B5EF4-FFF2-40B4-BE49-F238E27FC236}">
                <a16:creationId xmlns:a16="http://schemas.microsoft.com/office/drawing/2014/main" id="{187B260D-61E3-62AA-64BF-D91DA3BA5D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1335" y="6252979"/>
            <a:ext cx="435490" cy="435490"/>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66E55F3F-2B17-14A9-BC44-30639D711113}"/>
              </a:ext>
            </a:extLst>
          </p:cNvPr>
          <p:cNvSpPr txBox="1"/>
          <p:nvPr/>
        </p:nvSpPr>
        <p:spPr>
          <a:xfrm>
            <a:off x="9544001" y="6305951"/>
            <a:ext cx="1201996" cy="338554"/>
          </a:xfrm>
          <a:prstGeom prst="rect">
            <a:avLst/>
          </a:prstGeom>
          <a:noFill/>
        </p:spPr>
        <p:txBody>
          <a:bodyPr wrap="none" rtlCol="0">
            <a:spAutoFit/>
          </a:bodyPr>
          <a:lstStyle/>
          <a:p>
            <a:r>
              <a:rPr lang="en-US" sz="1600" dirty="0"/>
              <a:t>- Developer</a:t>
            </a:r>
          </a:p>
        </p:txBody>
      </p:sp>
      <p:sp>
        <p:nvSpPr>
          <p:cNvPr id="43" name="Title 1">
            <a:extLst>
              <a:ext uri="{FF2B5EF4-FFF2-40B4-BE49-F238E27FC236}">
                <a16:creationId xmlns:a16="http://schemas.microsoft.com/office/drawing/2014/main" id="{F8B065FF-37B6-26EE-4D32-49E2FBE3DF87}"/>
              </a:ext>
            </a:extLst>
          </p:cNvPr>
          <p:cNvSpPr>
            <a:spLocks noGrp="1"/>
          </p:cNvSpPr>
          <p:nvPr>
            <p:ph type="title"/>
          </p:nvPr>
        </p:nvSpPr>
        <p:spPr>
          <a:xfrm>
            <a:off x="838200" y="365125"/>
            <a:ext cx="10515600" cy="1325563"/>
          </a:xfrm>
        </p:spPr>
        <p:txBody>
          <a:bodyPr/>
          <a:lstStyle/>
          <a:p>
            <a:r>
              <a:rPr lang="en-US" dirty="0"/>
              <a:t>SHIRE procedure</a:t>
            </a:r>
          </a:p>
        </p:txBody>
      </p:sp>
      <p:pic>
        <p:nvPicPr>
          <p:cNvPr id="2050" name="Picture 2" descr="🤖 AI Agents vs Agentic AI: The Mind-Blowing Difference That Will Change  Everything | by MahendraMedapati | Towards AI">
            <a:extLst>
              <a:ext uri="{FF2B5EF4-FFF2-40B4-BE49-F238E27FC236}">
                <a16:creationId xmlns:a16="http://schemas.microsoft.com/office/drawing/2014/main" id="{6B5C6BBD-2A62-CD6D-BC09-12389B31484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2594" t="5052" r="2724" b="24200"/>
          <a:stretch>
            <a:fillRect/>
          </a:stretch>
        </p:blipFill>
        <p:spPr bwMode="auto">
          <a:xfrm>
            <a:off x="4265096" y="3726595"/>
            <a:ext cx="727016" cy="7671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 AI Agents vs Agentic AI: The Mind-Blowing Difference That Will Change  Everything | by MahendraMedapati | Towards AI">
            <a:extLst>
              <a:ext uri="{FF2B5EF4-FFF2-40B4-BE49-F238E27FC236}">
                <a16:creationId xmlns:a16="http://schemas.microsoft.com/office/drawing/2014/main" id="{1F08EBE7-E67C-2896-D510-47AE32E8D24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2594" t="5052" r="2724" b="24200"/>
          <a:stretch>
            <a:fillRect/>
          </a:stretch>
        </p:blipFill>
        <p:spPr bwMode="auto">
          <a:xfrm>
            <a:off x="9020207" y="4483958"/>
            <a:ext cx="385013" cy="40628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pi - Free computer icons">
            <a:extLst>
              <a:ext uri="{FF2B5EF4-FFF2-40B4-BE49-F238E27FC236}">
                <a16:creationId xmlns:a16="http://schemas.microsoft.com/office/drawing/2014/main" id="{EBB4FB34-5EB0-7255-88EA-73ED73022C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0901" y="5201337"/>
            <a:ext cx="598056" cy="598056"/>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3A468C6C-1DDB-56EF-E09E-7F1D43F7DF34}"/>
              </a:ext>
            </a:extLst>
          </p:cNvPr>
          <p:cNvGrpSpPr/>
          <p:nvPr/>
        </p:nvGrpSpPr>
        <p:grpSpPr>
          <a:xfrm>
            <a:off x="4958801" y="5222616"/>
            <a:ext cx="3271517" cy="1107996"/>
            <a:chOff x="4762964" y="5166779"/>
            <a:chExt cx="3271517" cy="1107996"/>
          </a:xfrm>
        </p:grpSpPr>
        <p:sp>
          <p:nvSpPr>
            <p:cNvPr id="13" name="TextBox 12">
              <a:extLst>
                <a:ext uri="{FF2B5EF4-FFF2-40B4-BE49-F238E27FC236}">
                  <a16:creationId xmlns:a16="http://schemas.microsoft.com/office/drawing/2014/main" id="{BA56F002-3287-2966-581F-8FFDE26A67E5}"/>
                </a:ext>
              </a:extLst>
            </p:cNvPr>
            <p:cNvSpPr txBox="1"/>
            <p:nvPr/>
          </p:nvSpPr>
          <p:spPr>
            <a:xfrm>
              <a:off x="5263572" y="5166779"/>
              <a:ext cx="2770909" cy="1107996"/>
            </a:xfrm>
            <a:prstGeom prst="rect">
              <a:avLst/>
            </a:prstGeom>
            <a:noFill/>
            <a:ln w="28575">
              <a:solidFill>
                <a:schemeClr val="tx2">
                  <a:lumMod val="50000"/>
                  <a:lumOff val="50000"/>
                </a:schemeClr>
              </a:solidFill>
            </a:ln>
          </p:spPr>
          <p:txBody>
            <a:bodyPr wrap="square">
              <a:spAutoFit/>
            </a:bodyPr>
            <a:lstStyle/>
            <a:p>
              <a:pPr marL="91440" indent="-91440">
                <a:buFont typeface="Arial" panose="020B0604020202020204" pitchFamily="34" charset="0"/>
                <a:buChar char="•"/>
              </a:pPr>
              <a:r>
                <a:rPr lang="en-US" sz="1100" dirty="0">
                  <a:solidFill>
                    <a:schemeClr val="tx1"/>
                  </a:solidFill>
                  <a:latin typeface="Comic Sans MS" panose="030F0702030302020204" pitchFamily="66" charset="0"/>
                </a:rPr>
                <a:t>VM (OS, app directory, file structure, libraries installed, and others)</a:t>
              </a:r>
            </a:p>
            <a:p>
              <a:pPr marL="91440" indent="-91440">
                <a:buFont typeface="Arial" panose="020B0604020202020204" pitchFamily="34" charset="0"/>
                <a:buChar char="•"/>
              </a:pPr>
              <a:r>
                <a:rPr lang="en-US" sz="1100" dirty="0">
                  <a:solidFill>
                    <a:schemeClr val="tx1"/>
                  </a:solidFill>
                  <a:latin typeface="Comic Sans MS" panose="030F0702030302020204" pitchFamily="66" charset="0"/>
                </a:rPr>
                <a:t>Vulnerability (Vuln ID, CVE details, how to fix, previous resolution knowledge, resolution steps from internal tool)</a:t>
              </a:r>
            </a:p>
          </p:txBody>
        </p:sp>
        <p:pic>
          <p:nvPicPr>
            <p:cNvPr id="2054" name="Picture 6" descr="Document Icon PNG Transparent Background, Free Download #36546 -  FreeIconsPNG">
              <a:extLst>
                <a:ext uri="{FF2B5EF4-FFF2-40B4-BE49-F238E27FC236}">
                  <a16:creationId xmlns:a16="http://schemas.microsoft.com/office/drawing/2014/main" id="{34494921-30F7-3AE7-841A-B868B44A9A6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62964" y="5183411"/>
              <a:ext cx="491372" cy="491372"/>
            </a:xfrm>
            <a:prstGeom prst="rect">
              <a:avLst/>
            </a:prstGeom>
            <a:noFill/>
            <a:ln w="28575">
              <a:solidFill>
                <a:schemeClr val="tx2">
                  <a:lumMod val="50000"/>
                  <a:lumOff val="50000"/>
                </a:schemeClr>
              </a:solidFill>
            </a:ln>
            <a:extLst>
              <a:ext uri="{909E8E84-426E-40DD-AFC4-6F175D3DCCD1}">
                <a14:hiddenFill xmlns:a14="http://schemas.microsoft.com/office/drawing/2010/main">
                  <a:solidFill>
                    <a:srgbClr val="FFFFFF"/>
                  </a:solidFill>
                </a14:hiddenFill>
              </a:ext>
            </a:extLst>
          </p:spPr>
        </p:pic>
      </p:grpSp>
      <p:sp>
        <p:nvSpPr>
          <p:cNvPr id="17" name="Arrow: Left-Right 16">
            <a:extLst>
              <a:ext uri="{FF2B5EF4-FFF2-40B4-BE49-F238E27FC236}">
                <a16:creationId xmlns:a16="http://schemas.microsoft.com/office/drawing/2014/main" id="{BD1511AB-5BF4-F409-D75E-F6FF0F0490E5}"/>
              </a:ext>
            </a:extLst>
          </p:cNvPr>
          <p:cNvSpPr/>
          <p:nvPr/>
        </p:nvSpPr>
        <p:spPr>
          <a:xfrm rot="18000000">
            <a:off x="3939739" y="4786270"/>
            <a:ext cx="683491" cy="16048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Left-Right 17">
            <a:extLst>
              <a:ext uri="{FF2B5EF4-FFF2-40B4-BE49-F238E27FC236}">
                <a16:creationId xmlns:a16="http://schemas.microsoft.com/office/drawing/2014/main" id="{E4949770-61DE-75EA-2035-EC56E754E12A}"/>
              </a:ext>
            </a:extLst>
          </p:cNvPr>
          <p:cNvSpPr/>
          <p:nvPr/>
        </p:nvSpPr>
        <p:spPr>
          <a:xfrm rot="3600000">
            <a:off x="4599427" y="4786270"/>
            <a:ext cx="683491" cy="16048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FDCDF1C3-6AC0-9978-DA3A-ED61E0D6F54F}"/>
              </a:ext>
            </a:extLst>
          </p:cNvPr>
          <p:cNvGrpSpPr/>
          <p:nvPr/>
        </p:nvGrpSpPr>
        <p:grpSpPr>
          <a:xfrm>
            <a:off x="4079010" y="1743111"/>
            <a:ext cx="1012862" cy="915230"/>
            <a:chOff x="1939637" y="2144314"/>
            <a:chExt cx="1012862" cy="915230"/>
          </a:xfrm>
        </p:grpSpPr>
        <p:pic>
          <p:nvPicPr>
            <p:cNvPr id="6" name="Picture 6">
              <a:extLst>
                <a:ext uri="{FF2B5EF4-FFF2-40B4-BE49-F238E27FC236}">
                  <a16:creationId xmlns:a16="http://schemas.microsoft.com/office/drawing/2014/main" id="{8032E6AA-59A2-52F8-042B-50CDDDD304D9}"/>
                </a:ext>
              </a:extLst>
            </p:cNvPr>
            <p:cNvPicPr>
              <a:picLocks noChangeAspect="1" noChangeArrowheads="1"/>
            </p:cNvPicPr>
            <p:nvPr/>
          </p:nvPicPr>
          <p:blipFill>
            <a:blip r:embed="rId8">
              <a:duotone>
                <a:prstClr val="black"/>
                <a:schemeClr val="accent2">
                  <a:tint val="45000"/>
                  <a:satMod val="400000"/>
                </a:schemeClr>
              </a:duotone>
              <a:extLst>
                <a:ext uri="{28A0092B-C50C-407E-A947-70E740481C1C}">
                  <a14:useLocalDpi xmlns:a14="http://schemas.microsoft.com/office/drawing/2010/main" val="0"/>
                </a:ext>
              </a:extLst>
            </a:blip>
            <a:srcRect/>
            <a:stretch/>
          </p:blipFill>
          <p:spPr bwMode="auto">
            <a:xfrm>
              <a:off x="1939637" y="2376053"/>
              <a:ext cx="683491" cy="6834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Vulnerability Generic color outline icon | Freepik">
              <a:extLst>
                <a:ext uri="{FF2B5EF4-FFF2-40B4-BE49-F238E27FC236}">
                  <a16:creationId xmlns:a16="http://schemas.microsoft.com/office/drawing/2014/main" id="{FBB3680F-041C-F1CF-99B8-D4C2F79F0F1F}"/>
                </a:ext>
              </a:extLst>
            </p:cNvPr>
            <p:cNvPicPr>
              <a:picLocks noChangeAspect="1" noChangeArrowheads="1"/>
            </p:cNvPicPr>
            <p:nvPr/>
          </p:nvPicPr>
          <p:blipFill>
            <a:blip r:embed="rId3">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2354443" y="2144314"/>
              <a:ext cx="598056" cy="59805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B8EEA731-5C75-D33D-F2A1-0DAD98D8FC08}"/>
              </a:ext>
            </a:extLst>
          </p:cNvPr>
          <p:cNvGrpSpPr/>
          <p:nvPr/>
        </p:nvGrpSpPr>
        <p:grpSpPr>
          <a:xfrm>
            <a:off x="9017653" y="5308933"/>
            <a:ext cx="511003" cy="448472"/>
            <a:chOff x="1939637" y="2162602"/>
            <a:chExt cx="1022006" cy="896944"/>
          </a:xfrm>
        </p:grpSpPr>
        <p:pic>
          <p:nvPicPr>
            <p:cNvPr id="16" name="Picture 6">
              <a:extLst>
                <a:ext uri="{FF2B5EF4-FFF2-40B4-BE49-F238E27FC236}">
                  <a16:creationId xmlns:a16="http://schemas.microsoft.com/office/drawing/2014/main" id="{6FA59552-90EB-4D48-05CE-A8A9A5D41842}"/>
                </a:ext>
              </a:extLst>
            </p:cNvPr>
            <p:cNvPicPr>
              <a:picLocks noChangeAspect="1" noChangeArrowheads="1"/>
            </p:cNvPicPr>
            <p:nvPr/>
          </p:nvPicPr>
          <p:blipFill>
            <a:blip r:embed="rId8">
              <a:duotone>
                <a:prstClr val="black"/>
                <a:schemeClr val="accent2">
                  <a:tint val="45000"/>
                  <a:satMod val="400000"/>
                </a:schemeClr>
              </a:duotone>
              <a:extLst>
                <a:ext uri="{28A0092B-C50C-407E-A947-70E740481C1C}">
                  <a14:useLocalDpi xmlns:a14="http://schemas.microsoft.com/office/drawing/2010/main" val="0"/>
                </a:ext>
              </a:extLst>
            </a:blip>
            <a:srcRect/>
            <a:stretch/>
          </p:blipFill>
          <p:spPr bwMode="auto">
            <a:xfrm>
              <a:off x="1939637" y="2376054"/>
              <a:ext cx="683492" cy="68349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Vulnerability Generic color outline icon | Freepik">
              <a:extLst>
                <a:ext uri="{FF2B5EF4-FFF2-40B4-BE49-F238E27FC236}">
                  <a16:creationId xmlns:a16="http://schemas.microsoft.com/office/drawing/2014/main" id="{BA8179ED-0982-9D16-9C1C-C4CA890B4C3F}"/>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363587" y="2162602"/>
              <a:ext cx="598056" cy="598056"/>
            </a:xfrm>
            <a:prstGeom prst="rect">
              <a:avLst/>
            </a:prstGeom>
            <a:noFill/>
            <a:extLst>
              <a:ext uri="{909E8E84-426E-40DD-AFC4-6F175D3DCCD1}">
                <a14:hiddenFill xmlns:a14="http://schemas.microsoft.com/office/drawing/2010/main">
                  <a:solidFill>
                    <a:srgbClr val="FFFFFF"/>
                  </a:solidFill>
                </a14:hiddenFill>
              </a:ext>
            </a:extLst>
          </p:spPr>
        </p:pic>
      </p:grpSp>
      <p:pic>
        <p:nvPicPr>
          <p:cNvPr id="28" name="Picture 6">
            <a:extLst>
              <a:ext uri="{FF2B5EF4-FFF2-40B4-BE49-F238E27FC236}">
                <a16:creationId xmlns:a16="http://schemas.microsoft.com/office/drawing/2014/main" id="{B041096C-8AE8-5BAB-C644-7CF0019F0D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p:blipFill>
        <p:spPr bwMode="auto">
          <a:xfrm>
            <a:off x="6192521" y="3709562"/>
            <a:ext cx="683491" cy="683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9737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3C9AC-0710-64CC-C65D-3AC2F264B99A}"/>
              </a:ext>
            </a:extLst>
          </p:cNvPr>
          <p:cNvSpPr>
            <a:spLocks noGrp="1"/>
          </p:cNvSpPr>
          <p:nvPr>
            <p:ph type="title"/>
          </p:nvPr>
        </p:nvSpPr>
        <p:spPr/>
        <p:txBody>
          <a:bodyPr/>
          <a:lstStyle/>
          <a:p>
            <a:r>
              <a:rPr lang="en-US" dirty="0"/>
              <a:t>SHIRE Framework</a:t>
            </a:r>
          </a:p>
        </p:txBody>
      </p:sp>
      <p:grpSp>
        <p:nvGrpSpPr>
          <p:cNvPr id="6" name="Group 5">
            <a:extLst>
              <a:ext uri="{FF2B5EF4-FFF2-40B4-BE49-F238E27FC236}">
                <a16:creationId xmlns:a16="http://schemas.microsoft.com/office/drawing/2014/main" id="{E720570A-A302-7EDE-9E85-7381B75B9BD8}"/>
              </a:ext>
            </a:extLst>
          </p:cNvPr>
          <p:cNvGrpSpPr/>
          <p:nvPr/>
        </p:nvGrpSpPr>
        <p:grpSpPr>
          <a:xfrm>
            <a:off x="7628365" y="121595"/>
            <a:ext cx="2465546" cy="2465546"/>
            <a:chOff x="5871225" y="200532"/>
            <a:chExt cx="2345771" cy="2345771"/>
          </a:xfrm>
        </p:grpSpPr>
        <p:pic>
          <p:nvPicPr>
            <p:cNvPr id="4" name="Picture 2" descr="🤖 AI Agents vs Agentic AI: The Mind-Blowing Difference That Will Change  Everything | by MahendraMedapati | Towards AI">
              <a:extLst>
                <a:ext uri="{FF2B5EF4-FFF2-40B4-BE49-F238E27FC236}">
                  <a16:creationId xmlns:a16="http://schemas.microsoft.com/office/drawing/2014/main" id="{2428FC1E-1D17-B483-C74E-1F054DDA70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594" t="5052" r="2724" b="24200"/>
            <a:stretch>
              <a:fillRect/>
            </a:stretch>
          </p:blipFill>
          <p:spPr bwMode="auto">
            <a:xfrm>
              <a:off x="6014969" y="644317"/>
              <a:ext cx="1213604" cy="12806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gnifying glass - Free education icons">
              <a:extLst>
                <a:ext uri="{FF2B5EF4-FFF2-40B4-BE49-F238E27FC236}">
                  <a16:creationId xmlns:a16="http://schemas.microsoft.com/office/drawing/2014/main" id="{5B6C4620-6C77-7320-02BC-31C36B9EA88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758" b="98438" l="2344" r="98828">
                          <a14:foregroundMark x1="73828" y1="71680" x2="73828" y2="71680"/>
                          <a14:foregroundMark x1="65039" y1="61133" x2="65039" y2="61133"/>
                          <a14:foregroundMark x1="7031" y1="40430" x2="7031" y2="30078"/>
                          <a14:foregroundMark x1="30859" y1="9570" x2="65820" y2="27148"/>
                          <a14:foregroundMark x1="65820" y1="27148" x2="59180" y2="74023"/>
                          <a14:foregroundMark x1="59180" y1="74023" x2="85156" y2="90234"/>
                          <a14:foregroundMark x1="85156" y1="90234" x2="79883" y2="68555"/>
                          <a14:foregroundMark x1="56055" y1="18359" x2="23438" y2="9375"/>
                          <a14:foregroundMark x1="23438" y1="9375" x2="8789" y2="31445"/>
                          <a14:foregroundMark x1="8789" y1="31445" x2="18164" y2="63477"/>
                          <a14:foregroundMark x1="18164" y1="63477" x2="29492" y2="69336"/>
                          <a14:foregroundMark x1="94141" y1="85547" x2="80664" y2="98438"/>
                          <a14:foregroundMark x1="50391" y1="10938" x2="21875" y2="3516"/>
                          <a14:foregroundMark x1="21875" y1="3516" x2="2734" y2="30273"/>
                          <a14:foregroundMark x1="2734" y1="30273" x2="3516" y2="51758"/>
                          <a14:foregroundMark x1="40820" y1="4492" x2="40820" y2="4492"/>
                          <a14:foregroundMark x1="63281" y1="61133" x2="63281" y2="61133"/>
                          <a14:foregroundMark x1="34375" y1="61133" x2="34375" y2="61133"/>
                          <a14:foregroundMark x1="42969" y1="1953" x2="42969" y2="1953"/>
                          <a14:foregroundMark x1="98828" y1="87695" x2="98828" y2="87695"/>
                          <a14:backgroundMark x1="34961" y1="31836" x2="34961" y2="31836"/>
                        </a14:backgroundRemoval>
                      </a14:imgEffect>
                    </a14:imgLayer>
                  </a14:imgProps>
                </a:ext>
                <a:ext uri="{28A0092B-C50C-407E-A947-70E740481C1C}">
                  <a14:useLocalDpi xmlns:a14="http://schemas.microsoft.com/office/drawing/2010/main" val="0"/>
                </a:ext>
              </a:extLst>
            </a:blip>
            <a:srcRect/>
            <a:stretch>
              <a:fillRect/>
            </a:stretch>
          </p:blipFill>
          <p:spPr bwMode="auto">
            <a:xfrm rot="20076413">
              <a:off x="5871225" y="200532"/>
              <a:ext cx="2345771" cy="234577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2" name="Picture 8" descr="Llm Images – Browse 36,700 Stock Photos, Vectors, and Video | Adobe Stock">
            <a:extLst>
              <a:ext uri="{FF2B5EF4-FFF2-40B4-BE49-F238E27FC236}">
                <a16:creationId xmlns:a16="http://schemas.microsoft.com/office/drawing/2014/main" id="{8B9FFB19-FF7C-31A8-E8F2-02B297F629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7453" y="3528671"/>
            <a:ext cx="1426143" cy="106960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6" descr="JIRA | Vivantio">
            <a:extLst>
              <a:ext uri="{FF2B5EF4-FFF2-40B4-BE49-F238E27FC236}">
                <a16:creationId xmlns:a16="http://schemas.microsoft.com/office/drawing/2014/main" id="{73EB9766-AF86-E9AF-9E39-9AADDA85447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8675" t="21453" r="15619" b="21907"/>
          <a:stretch>
            <a:fillRect/>
          </a:stretch>
        </p:blipFill>
        <p:spPr bwMode="auto">
          <a:xfrm>
            <a:off x="5465975" y="2017297"/>
            <a:ext cx="981194" cy="43535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9" name="Picture 8" descr="Internet - Free signs icons">
            <a:extLst>
              <a:ext uri="{FF2B5EF4-FFF2-40B4-BE49-F238E27FC236}">
                <a16:creationId xmlns:a16="http://schemas.microsoft.com/office/drawing/2014/main" id="{DF3FC1B9-64F6-4090-4F9C-3B2DE37131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91177" y="2795596"/>
            <a:ext cx="691288" cy="717942"/>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387AE544-499B-5F4D-9FC3-89B1F91BCD54}"/>
              </a:ext>
            </a:extLst>
          </p:cNvPr>
          <p:cNvGrpSpPr/>
          <p:nvPr/>
        </p:nvGrpSpPr>
        <p:grpSpPr>
          <a:xfrm>
            <a:off x="6566813" y="4344171"/>
            <a:ext cx="756541" cy="984735"/>
            <a:chOff x="4638116" y="1505139"/>
            <a:chExt cx="770211" cy="1081700"/>
          </a:xfrm>
        </p:grpSpPr>
        <p:pic>
          <p:nvPicPr>
            <p:cNvPr id="13" name="Picture 18" descr="Api - Free seo and web icons">
              <a:extLst>
                <a:ext uri="{FF2B5EF4-FFF2-40B4-BE49-F238E27FC236}">
                  <a16:creationId xmlns:a16="http://schemas.microsoft.com/office/drawing/2014/main" id="{16AB4C31-964F-3B1E-0E38-93C389B19CD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7949" y="1827871"/>
              <a:ext cx="758966" cy="758968"/>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3FA75C77-F85B-10AA-20A4-DE4AAAD9763E}"/>
                </a:ext>
              </a:extLst>
            </p:cNvPr>
            <p:cNvSpPr txBox="1"/>
            <p:nvPr/>
          </p:nvSpPr>
          <p:spPr>
            <a:xfrm>
              <a:off x="4638116" y="1505139"/>
              <a:ext cx="770211" cy="307777"/>
            </a:xfrm>
            <a:prstGeom prst="rect">
              <a:avLst/>
            </a:prstGeom>
            <a:noFill/>
            <a:ln w="19050">
              <a:solidFill>
                <a:schemeClr val="tx1"/>
              </a:solidFill>
            </a:ln>
          </p:spPr>
          <p:txBody>
            <a:bodyPr wrap="none" rtlCol="0">
              <a:spAutoFit/>
            </a:bodyPr>
            <a:lstStyle/>
            <a:p>
              <a:pPr algn="ctr"/>
              <a:r>
                <a:rPr lang="en-US" sz="1400" b="1" dirty="0" err="1">
                  <a:solidFill>
                    <a:srgbClr val="FF0000"/>
                  </a:solidFill>
                </a:rPr>
                <a:t>Redhat</a:t>
              </a:r>
              <a:endParaRPr lang="en-US" sz="1400" b="1" dirty="0">
                <a:solidFill>
                  <a:srgbClr val="FF0000"/>
                </a:solidFill>
              </a:endParaRPr>
            </a:p>
          </p:txBody>
        </p:sp>
      </p:grpSp>
      <p:pic>
        <p:nvPicPr>
          <p:cNvPr id="15" name="Picture 20" descr="Ssh - Free computer icons">
            <a:extLst>
              <a:ext uri="{FF2B5EF4-FFF2-40B4-BE49-F238E27FC236}">
                <a16:creationId xmlns:a16="http://schemas.microsoft.com/office/drawing/2014/main" id="{73442F75-E192-7B00-B19B-E155EB24A23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65975" y="5601200"/>
            <a:ext cx="578767" cy="578767"/>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A70E8223-1098-5D09-95C3-A3F379F89B49}"/>
              </a:ext>
            </a:extLst>
          </p:cNvPr>
          <p:cNvGrpSpPr/>
          <p:nvPr/>
        </p:nvGrpSpPr>
        <p:grpSpPr>
          <a:xfrm>
            <a:off x="2993576" y="1690688"/>
            <a:ext cx="1063752" cy="900351"/>
            <a:chOff x="1732600" y="5891164"/>
            <a:chExt cx="736805" cy="606983"/>
          </a:xfrm>
        </p:grpSpPr>
        <p:pic>
          <p:nvPicPr>
            <p:cNvPr id="16" name="Picture 10" descr="Human Brain Memory Icon Simple Thin Stock Vector (Royalty Free) 1416176372  | Shutterstock">
              <a:extLst>
                <a:ext uri="{FF2B5EF4-FFF2-40B4-BE49-F238E27FC236}">
                  <a16:creationId xmlns:a16="http://schemas.microsoft.com/office/drawing/2014/main" id="{4E9D59BE-0B49-2DB5-B3E0-B524C9EC0054}"/>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1154" t="16071" r="16922" b="20357"/>
            <a:stretch>
              <a:fillRect/>
            </a:stretch>
          </p:blipFill>
          <p:spPr bwMode="auto">
            <a:xfrm>
              <a:off x="1859688" y="5998173"/>
              <a:ext cx="478819" cy="499974"/>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7C1E130C-DFC4-06F0-5ABC-B36FBFD6A33A}"/>
                </a:ext>
              </a:extLst>
            </p:cNvPr>
            <p:cNvSpPr txBox="1"/>
            <p:nvPr/>
          </p:nvSpPr>
          <p:spPr>
            <a:xfrm>
              <a:off x="1732600" y="5891164"/>
              <a:ext cx="736805" cy="276999"/>
            </a:xfrm>
            <a:prstGeom prst="rect">
              <a:avLst/>
            </a:prstGeom>
            <a:noFill/>
          </p:spPr>
          <p:txBody>
            <a:bodyPr wrap="none" rtlCol="0">
              <a:spAutoFit/>
            </a:bodyPr>
            <a:lstStyle/>
            <a:p>
              <a:pPr algn="ctr"/>
              <a:r>
                <a:rPr lang="en-US" sz="1200" dirty="0"/>
                <a:t>memory</a:t>
              </a:r>
            </a:p>
          </p:txBody>
        </p:sp>
      </p:grpSp>
      <p:sp>
        <p:nvSpPr>
          <p:cNvPr id="23" name="Arrow: Up-Down 22">
            <a:extLst>
              <a:ext uri="{FF2B5EF4-FFF2-40B4-BE49-F238E27FC236}">
                <a16:creationId xmlns:a16="http://schemas.microsoft.com/office/drawing/2014/main" id="{ACAB0C26-8436-D465-6744-5E6A7B2F42F7}"/>
              </a:ext>
            </a:extLst>
          </p:cNvPr>
          <p:cNvSpPr/>
          <p:nvPr/>
        </p:nvSpPr>
        <p:spPr>
          <a:xfrm rot="1800000">
            <a:off x="5084333" y="2478821"/>
            <a:ext cx="164592" cy="105254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Up-Down 23">
            <a:extLst>
              <a:ext uri="{FF2B5EF4-FFF2-40B4-BE49-F238E27FC236}">
                <a16:creationId xmlns:a16="http://schemas.microsoft.com/office/drawing/2014/main" id="{A8B013A9-A805-8508-40A4-C118A8C251A1}"/>
              </a:ext>
            </a:extLst>
          </p:cNvPr>
          <p:cNvSpPr/>
          <p:nvPr/>
        </p:nvSpPr>
        <p:spPr>
          <a:xfrm rot="3600000">
            <a:off x="5750476" y="3082501"/>
            <a:ext cx="164592" cy="105254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Up-Down 24">
            <a:extLst>
              <a:ext uri="{FF2B5EF4-FFF2-40B4-BE49-F238E27FC236}">
                <a16:creationId xmlns:a16="http://schemas.microsoft.com/office/drawing/2014/main" id="{2D71E91F-A475-E675-8C10-6EBF961DF951}"/>
              </a:ext>
            </a:extLst>
          </p:cNvPr>
          <p:cNvSpPr/>
          <p:nvPr/>
        </p:nvSpPr>
        <p:spPr>
          <a:xfrm rot="6300000">
            <a:off x="5812346" y="3972851"/>
            <a:ext cx="164592" cy="105254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Up-Down 25">
            <a:extLst>
              <a:ext uri="{FF2B5EF4-FFF2-40B4-BE49-F238E27FC236}">
                <a16:creationId xmlns:a16="http://schemas.microsoft.com/office/drawing/2014/main" id="{DDAA89D2-F4CB-5EA0-5CB2-A5855CBE879F}"/>
              </a:ext>
            </a:extLst>
          </p:cNvPr>
          <p:cNvSpPr/>
          <p:nvPr/>
        </p:nvSpPr>
        <p:spPr>
          <a:xfrm rot="9000000">
            <a:off x="5096311" y="4535301"/>
            <a:ext cx="164592" cy="105254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Up-Down 26">
            <a:extLst>
              <a:ext uri="{FF2B5EF4-FFF2-40B4-BE49-F238E27FC236}">
                <a16:creationId xmlns:a16="http://schemas.microsoft.com/office/drawing/2014/main" id="{B41FBDD9-4359-E081-A5C8-62A2BCAA11AB}"/>
              </a:ext>
            </a:extLst>
          </p:cNvPr>
          <p:cNvSpPr/>
          <p:nvPr/>
        </p:nvSpPr>
        <p:spPr>
          <a:xfrm rot="19800000">
            <a:off x="3929482" y="2473906"/>
            <a:ext cx="164592" cy="105254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201F5C46-4BB3-C24F-5695-19C0F3392B0D}"/>
              </a:ext>
            </a:extLst>
          </p:cNvPr>
          <p:cNvGrpSpPr/>
          <p:nvPr/>
        </p:nvGrpSpPr>
        <p:grpSpPr>
          <a:xfrm>
            <a:off x="2886770" y="5246693"/>
            <a:ext cx="790601" cy="1104185"/>
            <a:chOff x="4335974" y="5009127"/>
            <a:chExt cx="790601" cy="1104185"/>
          </a:xfrm>
        </p:grpSpPr>
        <p:pic>
          <p:nvPicPr>
            <p:cNvPr id="1034" name="Picture 10" descr="Classification SBTS2018 Lineal Color icon | Freepik">
              <a:extLst>
                <a:ext uri="{FF2B5EF4-FFF2-40B4-BE49-F238E27FC236}">
                  <a16:creationId xmlns:a16="http://schemas.microsoft.com/office/drawing/2014/main" id="{F23D7539-D6F1-EF0B-2CB4-64FAEBED9495}"/>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1935" b="-4220"/>
            <a:stretch>
              <a:fillRect/>
            </a:stretch>
          </p:blipFill>
          <p:spPr bwMode="auto">
            <a:xfrm rot="16200000">
              <a:off x="4383114" y="4987701"/>
              <a:ext cx="696323" cy="739175"/>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172479C6-0E9A-A64D-AF4D-B4942606561B}"/>
                </a:ext>
              </a:extLst>
            </p:cNvPr>
            <p:cNvSpPr txBox="1"/>
            <p:nvPr/>
          </p:nvSpPr>
          <p:spPr>
            <a:xfrm>
              <a:off x="4335974" y="5651647"/>
              <a:ext cx="790601" cy="461665"/>
            </a:xfrm>
            <a:prstGeom prst="rect">
              <a:avLst/>
            </a:prstGeom>
            <a:noFill/>
          </p:spPr>
          <p:txBody>
            <a:bodyPr wrap="none" rtlCol="0">
              <a:spAutoFit/>
            </a:bodyPr>
            <a:lstStyle/>
            <a:p>
              <a:pPr algn="ctr"/>
              <a:r>
                <a:rPr lang="en-US" sz="1200" dirty="0"/>
                <a:t>Intent</a:t>
              </a:r>
            </a:p>
            <a:p>
              <a:pPr algn="ctr"/>
              <a:r>
                <a:rPr lang="en-US" sz="1200" dirty="0"/>
                <a:t>classifier</a:t>
              </a:r>
            </a:p>
          </p:txBody>
        </p:sp>
      </p:grpSp>
      <p:sp>
        <p:nvSpPr>
          <p:cNvPr id="30" name="Arrow: Up-Down 29">
            <a:extLst>
              <a:ext uri="{FF2B5EF4-FFF2-40B4-BE49-F238E27FC236}">
                <a16:creationId xmlns:a16="http://schemas.microsoft.com/office/drawing/2014/main" id="{B2E4C9BB-0B4E-1268-4819-8F63FE703224}"/>
              </a:ext>
            </a:extLst>
          </p:cNvPr>
          <p:cNvSpPr/>
          <p:nvPr/>
        </p:nvSpPr>
        <p:spPr>
          <a:xfrm rot="1800000">
            <a:off x="3993230" y="4568919"/>
            <a:ext cx="164592" cy="105254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40" name="Picture 16" descr="Graph Database Png Transparent PNG - 600x590 - Free Download on NicePNG">
            <a:extLst>
              <a:ext uri="{FF2B5EF4-FFF2-40B4-BE49-F238E27FC236}">
                <a16:creationId xmlns:a16="http://schemas.microsoft.com/office/drawing/2014/main" id="{AE1336D7-5E56-488C-FF96-4AD3455904F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54421" y="2425579"/>
            <a:ext cx="1040722" cy="850346"/>
          </a:xfrm>
          <a:prstGeom prst="rect">
            <a:avLst/>
          </a:prstGeom>
          <a:noFill/>
          <a:extLst>
            <a:ext uri="{909E8E84-426E-40DD-AFC4-6F175D3DCCD1}">
              <a14:hiddenFill xmlns:a14="http://schemas.microsoft.com/office/drawing/2010/main">
                <a:solidFill>
                  <a:srgbClr val="FFFFFF"/>
                </a:solidFill>
              </a14:hiddenFill>
            </a:ext>
          </a:extLst>
        </p:spPr>
      </p:pic>
      <p:sp>
        <p:nvSpPr>
          <p:cNvPr id="31" name="Arrow: Up-Down 30">
            <a:extLst>
              <a:ext uri="{FF2B5EF4-FFF2-40B4-BE49-F238E27FC236}">
                <a16:creationId xmlns:a16="http://schemas.microsoft.com/office/drawing/2014/main" id="{2EF16944-2B02-B9C3-9FCE-1548C602F960}"/>
              </a:ext>
            </a:extLst>
          </p:cNvPr>
          <p:cNvSpPr/>
          <p:nvPr/>
        </p:nvSpPr>
        <p:spPr>
          <a:xfrm rot="7200000">
            <a:off x="3234470" y="3082500"/>
            <a:ext cx="164592" cy="105254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274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28D34-96E7-7472-F0A1-DE6C122C1BC5}"/>
              </a:ext>
            </a:extLst>
          </p:cNvPr>
          <p:cNvSpPr>
            <a:spLocks noGrp="1"/>
          </p:cNvSpPr>
          <p:nvPr>
            <p:ph type="title"/>
          </p:nvPr>
        </p:nvSpPr>
        <p:spPr/>
        <p:txBody>
          <a:bodyPr/>
          <a:lstStyle/>
          <a:p>
            <a:r>
              <a:rPr lang="en-US" dirty="0"/>
              <a:t>Current Scope of MVP</a:t>
            </a:r>
          </a:p>
        </p:txBody>
      </p:sp>
      <p:sp>
        <p:nvSpPr>
          <p:cNvPr id="3" name="Content Placeholder 2">
            <a:extLst>
              <a:ext uri="{FF2B5EF4-FFF2-40B4-BE49-F238E27FC236}">
                <a16:creationId xmlns:a16="http://schemas.microsoft.com/office/drawing/2014/main" id="{C63F0731-432D-0BFF-4A01-B1230F1CE7A3}"/>
              </a:ext>
            </a:extLst>
          </p:cNvPr>
          <p:cNvSpPr>
            <a:spLocks noGrp="1"/>
          </p:cNvSpPr>
          <p:nvPr>
            <p:ph idx="1"/>
          </p:nvPr>
        </p:nvSpPr>
        <p:spPr/>
        <p:txBody>
          <a:bodyPr/>
          <a:lstStyle/>
          <a:p>
            <a:r>
              <a:rPr lang="en-US" dirty="0"/>
              <a:t>Work on end-to-end resolution of most recurring-simple vulnerabilities.</a:t>
            </a:r>
          </a:p>
          <a:p>
            <a:r>
              <a:rPr lang="en-US" dirty="0"/>
              <a:t>Phase 1</a:t>
            </a:r>
          </a:p>
          <a:p>
            <a:pPr lvl="1"/>
            <a:r>
              <a:rPr lang="en-US" dirty="0"/>
              <a:t>A chat interface for a human to interact with the agentic-framework to be able to resolve vulnerabilities.</a:t>
            </a:r>
          </a:p>
          <a:p>
            <a:pPr lvl="1"/>
            <a:r>
              <a:rPr lang="en-US" dirty="0"/>
              <a:t>The framework provides all required tools to fix a vulnerability.</a:t>
            </a:r>
          </a:p>
          <a:p>
            <a:pPr lvl="1"/>
            <a:r>
              <a:rPr lang="en-US" dirty="0"/>
              <a:t>Every step is taken by a human expert (SME) and the workflow is under control. (steps taken by SME are recorded for training the model.)</a:t>
            </a:r>
          </a:p>
          <a:p>
            <a:pPr lvl="1"/>
            <a:r>
              <a:rPr lang="en-US" dirty="0"/>
              <a:t>Time-line = 6 weeks</a:t>
            </a:r>
          </a:p>
          <a:p>
            <a:pPr lvl="1"/>
            <a:r>
              <a:rPr lang="en-US" dirty="0"/>
              <a:t>Work with an SME to resolve vuln on daily basis.</a:t>
            </a:r>
          </a:p>
          <a:p>
            <a:pPr marL="0" indent="0">
              <a:buNone/>
            </a:pPr>
            <a:endParaRPr lang="en-US" dirty="0"/>
          </a:p>
        </p:txBody>
      </p:sp>
    </p:spTree>
    <p:extLst>
      <p:ext uri="{BB962C8B-B14F-4D97-AF65-F5344CB8AC3E}">
        <p14:creationId xmlns:p14="http://schemas.microsoft.com/office/powerpoint/2010/main" val="263218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1225A-9FCB-68F7-6526-908F808D7D07}"/>
              </a:ext>
            </a:extLst>
          </p:cNvPr>
          <p:cNvSpPr>
            <a:spLocks noGrp="1"/>
          </p:cNvSpPr>
          <p:nvPr>
            <p:ph type="title"/>
          </p:nvPr>
        </p:nvSpPr>
        <p:spPr/>
        <p:txBody>
          <a:bodyPr/>
          <a:lstStyle/>
          <a:p>
            <a:r>
              <a:rPr lang="en-US" dirty="0"/>
              <a:t>Features in focus</a:t>
            </a:r>
          </a:p>
        </p:txBody>
      </p:sp>
      <p:sp>
        <p:nvSpPr>
          <p:cNvPr id="3" name="Content Placeholder 2">
            <a:extLst>
              <a:ext uri="{FF2B5EF4-FFF2-40B4-BE49-F238E27FC236}">
                <a16:creationId xmlns:a16="http://schemas.microsoft.com/office/drawing/2014/main" id="{B227337D-C7AE-37B3-3E04-A5822A2F84B9}"/>
              </a:ext>
            </a:extLst>
          </p:cNvPr>
          <p:cNvSpPr>
            <a:spLocks noGrp="1"/>
          </p:cNvSpPr>
          <p:nvPr>
            <p:ph idx="1"/>
          </p:nvPr>
        </p:nvSpPr>
        <p:spPr/>
        <p:txBody>
          <a:bodyPr>
            <a:normAutofit/>
          </a:bodyPr>
          <a:lstStyle/>
          <a:p>
            <a:r>
              <a:rPr lang="en-US" sz="2400" dirty="0"/>
              <a:t>Target most recurring-simple vulnerabilities.</a:t>
            </a:r>
          </a:p>
          <a:p>
            <a:r>
              <a:rPr lang="en-US" sz="2400" dirty="0"/>
              <a:t>Jira stories for tracking and auditing.</a:t>
            </a:r>
          </a:p>
          <a:p>
            <a:r>
              <a:rPr lang="en-US" sz="2400" dirty="0"/>
              <a:t>Lang-graph memory to save state variables.</a:t>
            </a:r>
          </a:p>
          <a:p>
            <a:r>
              <a:rPr lang="en-US" sz="2400" dirty="0">
                <a:solidFill>
                  <a:schemeClr val="bg1">
                    <a:lumMod val="65000"/>
                  </a:schemeClr>
                </a:solidFill>
              </a:rPr>
              <a:t>Graph DB</a:t>
            </a:r>
          </a:p>
        </p:txBody>
      </p:sp>
    </p:spTree>
    <p:extLst>
      <p:ext uri="{BB962C8B-B14F-4D97-AF65-F5344CB8AC3E}">
        <p14:creationId xmlns:p14="http://schemas.microsoft.com/office/powerpoint/2010/main" val="4063545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488DE-6485-E516-5D4F-478656A25D9A}"/>
            </a:ext>
          </a:extLst>
        </p:cNvPr>
        <p:cNvGrpSpPr/>
        <p:nvPr/>
      </p:nvGrpSpPr>
      <p:grpSpPr>
        <a:xfrm>
          <a:off x="0" y="0"/>
          <a:ext cx="0" cy="0"/>
          <a:chOff x="0" y="0"/>
          <a:chExt cx="0" cy="0"/>
        </a:xfrm>
      </p:grpSpPr>
      <p:pic>
        <p:nvPicPr>
          <p:cNvPr id="1036" name="Picture 12" descr="Dashboard Tableau Software Data visualization Infographic Information,  infographic, text png | PNGEgg">
            <a:extLst>
              <a:ext uri="{FF2B5EF4-FFF2-40B4-BE49-F238E27FC236}">
                <a16:creationId xmlns:a16="http://schemas.microsoft.com/office/drawing/2014/main" id="{13BC697C-3B0C-5C67-27A3-5AFF967606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721" t="17212" r="26296" b="18632"/>
          <a:stretch>
            <a:fillRect/>
          </a:stretch>
        </p:blipFill>
        <p:spPr bwMode="auto">
          <a:xfrm>
            <a:off x="461611" y="3811157"/>
            <a:ext cx="769859" cy="598056"/>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C7686441-B590-4E5F-8C94-6CA5CE5386EE}"/>
              </a:ext>
            </a:extLst>
          </p:cNvPr>
          <p:cNvGrpSpPr/>
          <p:nvPr/>
        </p:nvGrpSpPr>
        <p:grpSpPr>
          <a:xfrm>
            <a:off x="2302777" y="2572327"/>
            <a:ext cx="616751" cy="3118432"/>
            <a:chOff x="2462423" y="2036041"/>
            <a:chExt cx="616751" cy="3118432"/>
          </a:xfrm>
        </p:grpSpPr>
        <p:pic>
          <p:nvPicPr>
            <p:cNvPr id="1038" name="Picture 14" descr="Vulnerability Generic color outline icon | Freepik">
              <a:extLst>
                <a:ext uri="{FF2B5EF4-FFF2-40B4-BE49-F238E27FC236}">
                  <a16:creationId xmlns:a16="http://schemas.microsoft.com/office/drawing/2014/main" id="{FE4615FA-E812-D1D2-17DB-0326D74C6A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423" y="3274871"/>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4" descr="Vulnerability Generic color outline icon | Freepik">
              <a:extLst>
                <a:ext uri="{FF2B5EF4-FFF2-40B4-BE49-F238E27FC236}">
                  <a16:creationId xmlns:a16="http://schemas.microsoft.com/office/drawing/2014/main" id="{B5AD0683-F4E7-CA4B-FADB-5EFDB3960304}"/>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1118" y="2634097"/>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descr="Vulnerability Generic color outline icon | Freepik">
              <a:extLst>
                <a:ext uri="{FF2B5EF4-FFF2-40B4-BE49-F238E27FC236}">
                  <a16:creationId xmlns:a16="http://schemas.microsoft.com/office/drawing/2014/main" id="{75491C7A-C7C1-B697-6614-220A628E6133}"/>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462423" y="2036041"/>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descr="Vulnerability Generic color outline icon | Freepik">
              <a:extLst>
                <a:ext uri="{FF2B5EF4-FFF2-40B4-BE49-F238E27FC236}">
                  <a16:creationId xmlns:a16="http://schemas.microsoft.com/office/drawing/2014/main" id="{AA0902D4-A9FC-AA2F-EED0-1AF4F3750914}"/>
                </a:ext>
              </a:extLst>
            </p:cNvPr>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62423" y="3915644"/>
              <a:ext cx="598056" cy="5980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4" descr="Vulnerability Generic color outline icon | Freepik">
              <a:extLst>
                <a:ext uri="{FF2B5EF4-FFF2-40B4-BE49-F238E27FC236}">
                  <a16:creationId xmlns:a16="http://schemas.microsoft.com/office/drawing/2014/main" id="{181EE05C-70E9-7409-CB6A-910A70D9823F}"/>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62423" y="4556417"/>
              <a:ext cx="598056" cy="598056"/>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Arrow: Right 20">
            <a:extLst>
              <a:ext uri="{FF2B5EF4-FFF2-40B4-BE49-F238E27FC236}">
                <a16:creationId xmlns:a16="http://schemas.microsoft.com/office/drawing/2014/main" id="{C9029E36-964E-B152-31D4-A49AE6CA0AD7}"/>
              </a:ext>
            </a:extLst>
          </p:cNvPr>
          <p:cNvSpPr/>
          <p:nvPr/>
        </p:nvSpPr>
        <p:spPr>
          <a:xfrm>
            <a:off x="1452565" y="4005123"/>
            <a:ext cx="598056" cy="1726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9B8754FA-5C16-D717-F92C-D34BA894165F}"/>
              </a:ext>
            </a:extLst>
          </p:cNvPr>
          <p:cNvSpPr/>
          <p:nvPr/>
        </p:nvSpPr>
        <p:spPr>
          <a:xfrm>
            <a:off x="3306878" y="4005122"/>
            <a:ext cx="598056" cy="1726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Left-Right 22">
            <a:extLst>
              <a:ext uri="{FF2B5EF4-FFF2-40B4-BE49-F238E27FC236}">
                <a16:creationId xmlns:a16="http://schemas.microsoft.com/office/drawing/2014/main" id="{148ADFC0-4EFB-AE1A-A643-33EA8D53F729}"/>
              </a:ext>
            </a:extLst>
          </p:cNvPr>
          <p:cNvSpPr/>
          <p:nvPr/>
        </p:nvSpPr>
        <p:spPr>
          <a:xfrm rot="16200000">
            <a:off x="4239752" y="3047424"/>
            <a:ext cx="683491" cy="16048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8C1501A6-1A90-1ABC-D819-81D01DA51D23}"/>
              </a:ext>
            </a:extLst>
          </p:cNvPr>
          <p:cNvSpPr/>
          <p:nvPr/>
        </p:nvSpPr>
        <p:spPr>
          <a:xfrm>
            <a:off x="5363125" y="4023884"/>
            <a:ext cx="598056" cy="1726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35B131E-F38B-1CDF-89FA-FBACA6D85C8C}"/>
              </a:ext>
            </a:extLst>
          </p:cNvPr>
          <p:cNvSpPr txBox="1"/>
          <p:nvPr/>
        </p:nvSpPr>
        <p:spPr>
          <a:xfrm>
            <a:off x="4634029" y="2958388"/>
            <a:ext cx="497252" cy="338554"/>
          </a:xfrm>
          <a:prstGeom prst="rect">
            <a:avLst/>
          </a:prstGeom>
          <a:noFill/>
        </p:spPr>
        <p:txBody>
          <a:bodyPr wrap="none" rtlCol="0">
            <a:spAutoFit/>
          </a:bodyPr>
          <a:lstStyle/>
          <a:p>
            <a:r>
              <a:rPr lang="en-US" sz="1600" dirty="0"/>
              <a:t>ssh</a:t>
            </a:r>
          </a:p>
        </p:txBody>
      </p:sp>
      <p:sp>
        <p:nvSpPr>
          <p:cNvPr id="26" name="Speech Bubble: Rectangle with Corners Rounded 25">
            <a:extLst>
              <a:ext uri="{FF2B5EF4-FFF2-40B4-BE49-F238E27FC236}">
                <a16:creationId xmlns:a16="http://schemas.microsoft.com/office/drawing/2014/main" id="{32408517-F642-5324-A660-074BB04338B2}"/>
              </a:ext>
            </a:extLst>
          </p:cNvPr>
          <p:cNvSpPr/>
          <p:nvPr/>
        </p:nvSpPr>
        <p:spPr>
          <a:xfrm>
            <a:off x="5422821" y="1363517"/>
            <a:ext cx="1542927" cy="598056"/>
          </a:xfrm>
          <a:prstGeom prst="wedgeRoundRectCallout">
            <a:avLst>
              <a:gd name="adj1" fmla="val -63434"/>
              <a:gd name="adj2" fmla="val 49705"/>
              <a:gd name="adj3" fmla="val 16667"/>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Live VM with a vulnerability.</a:t>
            </a:r>
          </a:p>
        </p:txBody>
      </p:sp>
      <p:sp>
        <p:nvSpPr>
          <p:cNvPr id="31" name="TextBox 30">
            <a:extLst>
              <a:ext uri="{FF2B5EF4-FFF2-40B4-BE49-F238E27FC236}">
                <a16:creationId xmlns:a16="http://schemas.microsoft.com/office/drawing/2014/main" id="{8952A564-F3E0-82E1-3794-7CDFB3F6BEA9}"/>
              </a:ext>
            </a:extLst>
          </p:cNvPr>
          <p:cNvSpPr txBox="1"/>
          <p:nvPr/>
        </p:nvSpPr>
        <p:spPr>
          <a:xfrm>
            <a:off x="9525529" y="4517822"/>
            <a:ext cx="2538708" cy="338554"/>
          </a:xfrm>
          <a:prstGeom prst="rect">
            <a:avLst/>
          </a:prstGeom>
          <a:noFill/>
        </p:spPr>
        <p:txBody>
          <a:bodyPr wrap="none" rtlCol="0">
            <a:spAutoFit/>
          </a:bodyPr>
          <a:lstStyle/>
          <a:p>
            <a:r>
              <a:rPr lang="en-US" sz="1600" dirty="0"/>
              <a:t>- SHIRE Agentic AI solution</a:t>
            </a:r>
          </a:p>
        </p:txBody>
      </p:sp>
      <p:pic>
        <p:nvPicPr>
          <p:cNvPr id="33" name="Picture 14" descr="Vulnerability Generic color outline icon | Freepik">
            <a:extLst>
              <a:ext uri="{FF2B5EF4-FFF2-40B4-BE49-F238E27FC236}">
                <a16:creationId xmlns:a16="http://schemas.microsoft.com/office/drawing/2014/main" id="{D5F33B4F-1228-8A52-C6A6-81B2C712383C}"/>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050991" y="4973643"/>
            <a:ext cx="354229" cy="354229"/>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FE5C65FA-F025-6356-FFFC-05FF7055CADF}"/>
              </a:ext>
            </a:extLst>
          </p:cNvPr>
          <p:cNvSpPr txBox="1"/>
          <p:nvPr/>
        </p:nvSpPr>
        <p:spPr>
          <a:xfrm>
            <a:off x="9534765" y="4965199"/>
            <a:ext cx="1398588" cy="338554"/>
          </a:xfrm>
          <a:prstGeom prst="rect">
            <a:avLst/>
          </a:prstGeom>
          <a:noFill/>
        </p:spPr>
        <p:txBody>
          <a:bodyPr wrap="none" rtlCol="0">
            <a:spAutoFit/>
          </a:bodyPr>
          <a:lstStyle/>
          <a:p>
            <a:r>
              <a:rPr lang="en-US" sz="1600" dirty="0"/>
              <a:t>- Vulnerability</a:t>
            </a:r>
          </a:p>
        </p:txBody>
      </p:sp>
      <p:sp>
        <p:nvSpPr>
          <p:cNvPr id="38" name="TextBox 37">
            <a:extLst>
              <a:ext uri="{FF2B5EF4-FFF2-40B4-BE49-F238E27FC236}">
                <a16:creationId xmlns:a16="http://schemas.microsoft.com/office/drawing/2014/main" id="{A5937047-FB1A-6D70-90C0-22AC9628CD7C}"/>
              </a:ext>
            </a:extLst>
          </p:cNvPr>
          <p:cNvSpPr txBox="1"/>
          <p:nvPr/>
        </p:nvSpPr>
        <p:spPr>
          <a:xfrm>
            <a:off x="9529215" y="5382223"/>
            <a:ext cx="1806520" cy="338554"/>
          </a:xfrm>
          <a:prstGeom prst="rect">
            <a:avLst/>
          </a:prstGeom>
          <a:noFill/>
        </p:spPr>
        <p:txBody>
          <a:bodyPr wrap="none" rtlCol="0">
            <a:spAutoFit/>
          </a:bodyPr>
          <a:lstStyle/>
          <a:p>
            <a:r>
              <a:rPr lang="en-US" sz="1600" dirty="0"/>
              <a:t>- Live VM with vuln</a:t>
            </a:r>
          </a:p>
        </p:txBody>
      </p:sp>
      <p:pic>
        <p:nvPicPr>
          <p:cNvPr id="39" name="Picture 12" descr="Dashboard Tableau Software Data visualization Infographic Information,  infographic, text png | PNGEgg">
            <a:extLst>
              <a:ext uri="{FF2B5EF4-FFF2-40B4-BE49-F238E27FC236}">
                <a16:creationId xmlns:a16="http://schemas.microsoft.com/office/drawing/2014/main" id="{F5446651-37AB-4D1C-51CF-AE5D5D6877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721" t="17212" r="26296" b="18632"/>
          <a:stretch>
            <a:fillRect/>
          </a:stretch>
        </p:blipFill>
        <p:spPr bwMode="auto">
          <a:xfrm>
            <a:off x="9014047" y="5807613"/>
            <a:ext cx="491372" cy="381717"/>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2BFF0DE9-4815-7A68-D2DC-282B76DF7085}"/>
              </a:ext>
            </a:extLst>
          </p:cNvPr>
          <p:cNvSpPr txBox="1"/>
          <p:nvPr/>
        </p:nvSpPr>
        <p:spPr>
          <a:xfrm>
            <a:off x="9534765" y="5826085"/>
            <a:ext cx="1987404" cy="338554"/>
          </a:xfrm>
          <a:prstGeom prst="rect">
            <a:avLst/>
          </a:prstGeom>
          <a:noFill/>
        </p:spPr>
        <p:txBody>
          <a:bodyPr wrap="none" rtlCol="0">
            <a:spAutoFit/>
          </a:bodyPr>
          <a:lstStyle/>
          <a:p>
            <a:r>
              <a:rPr lang="en-US" sz="1600" dirty="0"/>
              <a:t>- Tableau dashboard</a:t>
            </a:r>
          </a:p>
        </p:txBody>
      </p:sp>
      <p:pic>
        <p:nvPicPr>
          <p:cNvPr id="41" name="Picture 4" descr="Developer - Free computer icons">
            <a:extLst>
              <a:ext uri="{FF2B5EF4-FFF2-40B4-BE49-F238E27FC236}">
                <a16:creationId xmlns:a16="http://schemas.microsoft.com/office/drawing/2014/main" id="{E80407F3-DEDB-7B3B-DFBB-625E011C75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1335" y="6252979"/>
            <a:ext cx="435490" cy="435490"/>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82B53BDE-7185-0459-04BF-FC32F059ADA4}"/>
              </a:ext>
            </a:extLst>
          </p:cNvPr>
          <p:cNvSpPr txBox="1"/>
          <p:nvPr/>
        </p:nvSpPr>
        <p:spPr>
          <a:xfrm>
            <a:off x="9544001" y="6305951"/>
            <a:ext cx="1201996" cy="338554"/>
          </a:xfrm>
          <a:prstGeom prst="rect">
            <a:avLst/>
          </a:prstGeom>
          <a:noFill/>
        </p:spPr>
        <p:txBody>
          <a:bodyPr wrap="none" rtlCol="0">
            <a:spAutoFit/>
          </a:bodyPr>
          <a:lstStyle/>
          <a:p>
            <a:r>
              <a:rPr lang="en-US" sz="1600" dirty="0"/>
              <a:t>- Developer</a:t>
            </a:r>
          </a:p>
        </p:txBody>
      </p:sp>
      <p:sp>
        <p:nvSpPr>
          <p:cNvPr id="43" name="Title 1">
            <a:extLst>
              <a:ext uri="{FF2B5EF4-FFF2-40B4-BE49-F238E27FC236}">
                <a16:creationId xmlns:a16="http://schemas.microsoft.com/office/drawing/2014/main" id="{E6B5C230-1594-8CDB-C3E3-9D7F9CEE6B79}"/>
              </a:ext>
            </a:extLst>
          </p:cNvPr>
          <p:cNvSpPr>
            <a:spLocks noGrp="1"/>
          </p:cNvSpPr>
          <p:nvPr>
            <p:ph type="title"/>
          </p:nvPr>
        </p:nvSpPr>
        <p:spPr>
          <a:xfrm>
            <a:off x="838200" y="365125"/>
            <a:ext cx="10515600" cy="1325563"/>
          </a:xfrm>
        </p:spPr>
        <p:txBody>
          <a:bodyPr/>
          <a:lstStyle/>
          <a:p>
            <a:r>
              <a:rPr lang="en-US" dirty="0"/>
              <a:t>SHIRE procedure</a:t>
            </a:r>
          </a:p>
        </p:txBody>
      </p:sp>
      <p:pic>
        <p:nvPicPr>
          <p:cNvPr id="2050" name="Picture 2" descr="🤖 AI Agents vs Agentic AI: The Mind-Blowing Difference That Will Change  Everything | by MahendraMedapati | Towards AI">
            <a:extLst>
              <a:ext uri="{FF2B5EF4-FFF2-40B4-BE49-F238E27FC236}">
                <a16:creationId xmlns:a16="http://schemas.microsoft.com/office/drawing/2014/main" id="{FFFBC3DB-E889-BDD5-BF8E-76E75605FDC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2594" t="5052" r="2724" b="24200"/>
          <a:stretch>
            <a:fillRect/>
          </a:stretch>
        </p:blipFill>
        <p:spPr bwMode="auto">
          <a:xfrm>
            <a:off x="4265096" y="3726595"/>
            <a:ext cx="727016" cy="7671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 AI Agents vs Agentic AI: The Mind-Blowing Difference That Will Change  Everything | by MahendraMedapati | Towards AI">
            <a:extLst>
              <a:ext uri="{FF2B5EF4-FFF2-40B4-BE49-F238E27FC236}">
                <a16:creationId xmlns:a16="http://schemas.microsoft.com/office/drawing/2014/main" id="{4DA5E239-3DBD-AC20-717E-9F177F4E165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2594" t="5052" r="2724" b="24200"/>
          <a:stretch>
            <a:fillRect/>
          </a:stretch>
        </p:blipFill>
        <p:spPr bwMode="auto">
          <a:xfrm>
            <a:off x="9020207" y="4483958"/>
            <a:ext cx="385013" cy="40628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pi - Free computer icons">
            <a:extLst>
              <a:ext uri="{FF2B5EF4-FFF2-40B4-BE49-F238E27FC236}">
                <a16:creationId xmlns:a16="http://schemas.microsoft.com/office/drawing/2014/main" id="{46DBD7AE-CF7F-3CC8-C7EE-A6798FFFEF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0901" y="5201337"/>
            <a:ext cx="598056" cy="598056"/>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5A431867-E9E0-5E2E-B8E2-C3CF1967D775}"/>
              </a:ext>
            </a:extLst>
          </p:cNvPr>
          <p:cNvGrpSpPr/>
          <p:nvPr/>
        </p:nvGrpSpPr>
        <p:grpSpPr>
          <a:xfrm>
            <a:off x="4958801" y="5222616"/>
            <a:ext cx="3271517" cy="1107996"/>
            <a:chOff x="4762964" y="5166779"/>
            <a:chExt cx="3271517" cy="1107996"/>
          </a:xfrm>
        </p:grpSpPr>
        <p:sp>
          <p:nvSpPr>
            <p:cNvPr id="13" name="TextBox 12">
              <a:extLst>
                <a:ext uri="{FF2B5EF4-FFF2-40B4-BE49-F238E27FC236}">
                  <a16:creationId xmlns:a16="http://schemas.microsoft.com/office/drawing/2014/main" id="{2EC8DB0F-86F5-968B-11F8-0AD350DF73CF}"/>
                </a:ext>
              </a:extLst>
            </p:cNvPr>
            <p:cNvSpPr txBox="1"/>
            <p:nvPr/>
          </p:nvSpPr>
          <p:spPr>
            <a:xfrm>
              <a:off x="5263572" y="5166779"/>
              <a:ext cx="2770909" cy="1107996"/>
            </a:xfrm>
            <a:prstGeom prst="rect">
              <a:avLst/>
            </a:prstGeom>
            <a:noFill/>
            <a:ln w="28575">
              <a:solidFill>
                <a:schemeClr val="tx2">
                  <a:lumMod val="50000"/>
                  <a:lumOff val="50000"/>
                </a:schemeClr>
              </a:solidFill>
            </a:ln>
          </p:spPr>
          <p:txBody>
            <a:bodyPr wrap="square">
              <a:spAutoFit/>
            </a:bodyPr>
            <a:lstStyle/>
            <a:p>
              <a:pPr marL="91440" indent="-91440">
                <a:buFont typeface="Arial" panose="020B0604020202020204" pitchFamily="34" charset="0"/>
                <a:buChar char="•"/>
              </a:pPr>
              <a:r>
                <a:rPr lang="en-US" sz="1100" dirty="0">
                  <a:solidFill>
                    <a:schemeClr val="tx1"/>
                  </a:solidFill>
                  <a:latin typeface="Comic Sans MS" panose="030F0702030302020204" pitchFamily="66" charset="0"/>
                </a:rPr>
                <a:t>VM (OS, app directory, file structure, libraries installed, and others)</a:t>
              </a:r>
            </a:p>
            <a:p>
              <a:pPr marL="91440" indent="-91440">
                <a:buFont typeface="Arial" panose="020B0604020202020204" pitchFamily="34" charset="0"/>
                <a:buChar char="•"/>
              </a:pPr>
              <a:r>
                <a:rPr lang="en-US" sz="1100" dirty="0">
                  <a:solidFill>
                    <a:schemeClr val="tx1"/>
                  </a:solidFill>
                  <a:latin typeface="Comic Sans MS" panose="030F0702030302020204" pitchFamily="66" charset="0"/>
                </a:rPr>
                <a:t>Vulnerability (Vuln ID, CVE details, how to fix, previous resolution knowledge, resolution steps from internal tool)</a:t>
              </a:r>
            </a:p>
          </p:txBody>
        </p:sp>
        <p:pic>
          <p:nvPicPr>
            <p:cNvPr id="2054" name="Picture 6" descr="Document Icon PNG Transparent Background, Free Download #36546 -  FreeIconsPNG">
              <a:extLst>
                <a:ext uri="{FF2B5EF4-FFF2-40B4-BE49-F238E27FC236}">
                  <a16:creationId xmlns:a16="http://schemas.microsoft.com/office/drawing/2014/main" id="{7A821229-43D5-533C-FC71-CA3EA4163D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62964" y="5183411"/>
              <a:ext cx="491372" cy="491372"/>
            </a:xfrm>
            <a:prstGeom prst="rect">
              <a:avLst/>
            </a:prstGeom>
            <a:noFill/>
            <a:ln w="28575">
              <a:solidFill>
                <a:schemeClr val="tx2">
                  <a:lumMod val="50000"/>
                  <a:lumOff val="50000"/>
                </a:schemeClr>
              </a:solidFill>
            </a:ln>
            <a:extLst>
              <a:ext uri="{909E8E84-426E-40DD-AFC4-6F175D3DCCD1}">
                <a14:hiddenFill xmlns:a14="http://schemas.microsoft.com/office/drawing/2010/main">
                  <a:solidFill>
                    <a:srgbClr val="FFFFFF"/>
                  </a:solidFill>
                </a14:hiddenFill>
              </a:ext>
            </a:extLst>
          </p:spPr>
        </p:pic>
      </p:grpSp>
      <p:sp>
        <p:nvSpPr>
          <p:cNvPr id="17" name="Arrow: Left-Right 16">
            <a:extLst>
              <a:ext uri="{FF2B5EF4-FFF2-40B4-BE49-F238E27FC236}">
                <a16:creationId xmlns:a16="http://schemas.microsoft.com/office/drawing/2014/main" id="{493D7AE8-405D-1B2E-6807-E4E5C2B61425}"/>
              </a:ext>
            </a:extLst>
          </p:cNvPr>
          <p:cNvSpPr/>
          <p:nvPr/>
        </p:nvSpPr>
        <p:spPr>
          <a:xfrm rot="18000000">
            <a:off x="3939739" y="4786270"/>
            <a:ext cx="683491" cy="16048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Left-Right 17">
            <a:extLst>
              <a:ext uri="{FF2B5EF4-FFF2-40B4-BE49-F238E27FC236}">
                <a16:creationId xmlns:a16="http://schemas.microsoft.com/office/drawing/2014/main" id="{3B115D19-12A8-A91A-338B-E32192C2E191}"/>
              </a:ext>
            </a:extLst>
          </p:cNvPr>
          <p:cNvSpPr/>
          <p:nvPr/>
        </p:nvSpPr>
        <p:spPr>
          <a:xfrm rot="3600000">
            <a:off x="4599427" y="4786270"/>
            <a:ext cx="683491" cy="16048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32F1C39-EB58-6C99-5D1B-7E3213C8DD6E}"/>
              </a:ext>
            </a:extLst>
          </p:cNvPr>
          <p:cNvSpPr/>
          <p:nvPr/>
        </p:nvSpPr>
        <p:spPr>
          <a:xfrm>
            <a:off x="3456272" y="4870715"/>
            <a:ext cx="4964664" cy="168536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BF474881-320D-DEF1-09E7-740492C5A73E}"/>
              </a:ext>
            </a:extLst>
          </p:cNvPr>
          <p:cNvGrpSpPr/>
          <p:nvPr/>
        </p:nvGrpSpPr>
        <p:grpSpPr>
          <a:xfrm>
            <a:off x="8995005" y="3878601"/>
            <a:ext cx="3102591" cy="584775"/>
            <a:chOff x="9487588" y="5063413"/>
            <a:chExt cx="3102591" cy="584775"/>
          </a:xfrm>
        </p:grpSpPr>
        <p:sp>
          <p:nvSpPr>
            <p:cNvPr id="45" name="Rectangle 44">
              <a:extLst>
                <a:ext uri="{FF2B5EF4-FFF2-40B4-BE49-F238E27FC236}">
                  <a16:creationId xmlns:a16="http://schemas.microsoft.com/office/drawing/2014/main" id="{7957E13E-7C35-8F49-3651-584673D1D5FB}"/>
                </a:ext>
              </a:extLst>
            </p:cNvPr>
            <p:cNvSpPr/>
            <p:nvPr/>
          </p:nvSpPr>
          <p:spPr>
            <a:xfrm>
              <a:off x="9487588" y="5101935"/>
              <a:ext cx="491371" cy="2799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8328BD3C-8206-458B-B19E-336A2022FA4E}"/>
                </a:ext>
              </a:extLst>
            </p:cNvPr>
            <p:cNvSpPr txBox="1"/>
            <p:nvPr/>
          </p:nvSpPr>
          <p:spPr>
            <a:xfrm>
              <a:off x="10030696" y="5063413"/>
              <a:ext cx="2559483" cy="584775"/>
            </a:xfrm>
            <a:prstGeom prst="rect">
              <a:avLst/>
            </a:prstGeom>
            <a:noFill/>
          </p:spPr>
          <p:txBody>
            <a:bodyPr wrap="none" rtlCol="0">
              <a:spAutoFit/>
            </a:bodyPr>
            <a:lstStyle/>
            <a:p>
              <a:pPr marL="285750" indent="-285750">
                <a:buFontTx/>
                <a:buChar char="-"/>
              </a:pPr>
              <a:r>
                <a:rPr lang="en-US" sz="1600" dirty="0"/>
                <a:t>Missing components in </a:t>
              </a:r>
            </a:p>
            <a:p>
              <a:r>
                <a:rPr lang="en-US" sz="1600" dirty="0"/>
                <a:t>RBC env</a:t>
              </a:r>
            </a:p>
          </p:txBody>
        </p:sp>
      </p:grpSp>
      <p:grpSp>
        <p:nvGrpSpPr>
          <p:cNvPr id="4" name="Group 3">
            <a:extLst>
              <a:ext uri="{FF2B5EF4-FFF2-40B4-BE49-F238E27FC236}">
                <a16:creationId xmlns:a16="http://schemas.microsoft.com/office/drawing/2014/main" id="{E26941E2-31AF-A789-EC1B-96C988B6EF5A}"/>
              </a:ext>
            </a:extLst>
          </p:cNvPr>
          <p:cNvGrpSpPr/>
          <p:nvPr/>
        </p:nvGrpSpPr>
        <p:grpSpPr>
          <a:xfrm>
            <a:off x="4079010" y="1743111"/>
            <a:ext cx="1012862" cy="915230"/>
            <a:chOff x="1939637" y="2144314"/>
            <a:chExt cx="1012862" cy="915230"/>
          </a:xfrm>
        </p:grpSpPr>
        <p:pic>
          <p:nvPicPr>
            <p:cNvPr id="6" name="Picture 6">
              <a:extLst>
                <a:ext uri="{FF2B5EF4-FFF2-40B4-BE49-F238E27FC236}">
                  <a16:creationId xmlns:a16="http://schemas.microsoft.com/office/drawing/2014/main" id="{53368441-30F1-E453-56E1-DA908E255C1D}"/>
                </a:ext>
              </a:extLst>
            </p:cNvPr>
            <p:cNvPicPr>
              <a:picLocks noChangeAspect="1" noChangeArrowheads="1"/>
            </p:cNvPicPr>
            <p:nvPr/>
          </p:nvPicPr>
          <p:blipFill>
            <a:blip r:embed="rId8">
              <a:duotone>
                <a:prstClr val="black"/>
                <a:schemeClr val="accent2">
                  <a:tint val="45000"/>
                  <a:satMod val="400000"/>
                </a:schemeClr>
              </a:duotone>
              <a:extLst>
                <a:ext uri="{28A0092B-C50C-407E-A947-70E740481C1C}">
                  <a14:useLocalDpi xmlns:a14="http://schemas.microsoft.com/office/drawing/2010/main" val="0"/>
                </a:ext>
              </a:extLst>
            </a:blip>
            <a:srcRect/>
            <a:stretch/>
          </p:blipFill>
          <p:spPr bwMode="auto">
            <a:xfrm>
              <a:off x="1939637" y="2376053"/>
              <a:ext cx="683491" cy="6834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Vulnerability Generic color outline icon | Freepik">
              <a:extLst>
                <a:ext uri="{FF2B5EF4-FFF2-40B4-BE49-F238E27FC236}">
                  <a16:creationId xmlns:a16="http://schemas.microsoft.com/office/drawing/2014/main" id="{61AD81B4-97E9-8459-B469-293586F66597}"/>
                </a:ext>
              </a:extLst>
            </p:cNvPr>
            <p:cNvPicPr>
              <a:picLocks noChangeAspect="1" noChangeArrowheads="1"/>
            </p:cNvPicPr>
            <p:nvPr/>
          </p:nvPicPr>
          <p:blipFill>
            <a:blip r:embed="rId3">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2354443" y="2144314"/>
              <a:ext cx="598056" cy="59805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FE2DE4FF-9695-7133-A404-6973646C1288}"/>
              </a:ext>
            </a:extLst>
          </p:cNvPr>
          <p:cNvGrpSpPr/>
          <p:nvPr/>
        </p:nvGrpSpPr>
        <p:grpSpPr>
          <a:xfrm>
            <a:off x="9017653" y="5308933"/>
            <a:ext cx="511003" cy="448472"/>
            <a:chOff x="1939637" y="2162602"/>
            <a:chExt cx="1022006" cy="896944"/>
          </a:xfrm>
        </p:grpSpPr>
        <p:pic>
          <p:nvPicPr>
            <p:cNvPr id="16" name="Picture 6">
              <a:extLst>
                <a:ext uri="{FF2B5EF4-FFF2-40B4-BE49-F238E27FC236}">
                  <a16:creationId xmlns:a16="http://schemas.microsoft.com/office/drawing/2014/main" id="{9E078A82-D037-4D61-62C9-28CD8F38F760}"/>
                </a:ext>
              </a:extLst>
            </p:cNvPr>
            <p:cNvPicPr>
              <a:picLocks noChangeAspect="1" noChangeArrowheads="1"/>
            </p:cNvPicPr>
            <p:nvPr/>
          </p:nvPicPr>
          <p:blipFill>
            <a:blip r:embed="rId8">
              <a:duotone>
                <a:prstClr val="black"/>
                <a:schemeClr val="accent2">
                  <a:tint val="45000"/>
                  <a:satMod val="400000"/>
                </a:schemeClr>
              </a:duotone>
              <a:extLst>
                <a:ext uri="{28A0092B-C50C-407E-A947-70E740481C1C}">
                  <a14:useLocalDpi xmlns:a14="http://schemas.microsoft.com/office/drawing/2010/main" val="0"/>
                </a:ext>
              </a:extLst>
            </a:blip>
            <a:srcRect/>
            <a:stretch/>
          </p:blipFill>
          <p:spPr bwMode="auto">
            <a:xfrm>
              <a:off x="1939637" y="2376054"/>
              <a:ext cx="683492" cy="68349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Vulnerability Generic color outline icon | Freepik">
              <a:extLst>
                <a:ext uri="{FF2B5EF4-FFF2-40B4-BE49-F238E27FC236}">
                  <a16:creationId xmlns:a16="http://schemas.microsoft.com/office/drawing/2014/main" id="{83CB5B86-10C0-472E-7E4D-AA12452C4CB9}"/>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363587" y="2162602"/>
              <a:ext cx="598056" cy="598056"/>
            </a:xfrm>
            <a:prstGeom prst="rect">
              <a:avLst/>
            </a:prstGeom>
            <a:noFill/>
            <a:extLst>
              <a:ext uri="{909E8E84-426E-40DD-AFC4-6F175D3DCCD1}">
                <a14:hiddenFill xmlns:a14="http://schemas.microsoft.com/office/drawing/2010/main">
                  <a:solidFill>
                    <a:srgbClr val="FFFFFF"/>
                  </a:solidFill>
                </a14:hiddenFill>
              </a:ext>
            </a:extLst>
          </p:spPr>
        </p:pic>
      </p:grpSp>
      <p:pic>
        <p:nvPicPr>
          <p:cNvPr id="28" name="Picture 6">
            <a:extLst>
              <a:ext uri="{FF2B5EF4-FFF2-40B4-BE49-F238E27FC236}">
                <a16:creationId xmlns:a16="http://schemas.microsoft.com/office/drawing/2014/main" id="{87F96DC6-94A9-AD62-AF26-525D205FCE8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p:blipFill>
        <p:spPr bwMode="auto">
          <a:xfrm>
            <a:off x="6192521" y="3709562"/>
            <a:ext cx="683491" cy="683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702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0C9FE-7E71-72A9-D8FF-DE48D330A6DD}"/>
              </a:ext>
            </a:extLst>
          </p:cNvPr>
          <p:cNvSpPr>
            <a:spLocks noGrp="1"/>
          </p:cNvSpPr>
          <p:nvPr>
            <p:ph type="title"/>
          </p:nvPr>
        </p:nvSpPr>
        <p:spPr/>
        <p:txBody>
          <a:bodyPr/>
          <a:lstStyle/>
          <a:p>
            <a:r>
              <a:rPr lang="en-US" dirty="0"/>
              <a:t>Dependencies</a:t>
            </a:r>
          </a:p>
        </p:txBody>
      </p:sp>
      <p:sp>
        <p:nvSpPr>
          <p:cNvPr id="3" name="Content Placeholder 2">
            <a:extLst>
              <a:ext uri="{FF2B5EF4-FFF2-40B4-BE49-F238E27FC236}">
                <a16:creationId xmlns:a16="http://schemas.microsoft.com/office/drawing/2014/main" id="{C32C5E90-6628-13F6-B0DD-16BE049047C9}"/>
              </a:ext>
            </a:extLst>
          </p:cNvPr>
          <p:cNvSpPr>
            <a:spLocks noGrp="1"/>
          </p:cNvSpPr>
          <p:nvPr>
            <p:ph idx="1"/>
          </p:nvPr>
        </p:nvSpPr>
        <p:spPr/>
        <p:txBody>
          <a:bodyPr>
            <a:normAutofit/>
          </a:bodyPr>
          <a:lstStyle/>
          <a:p>
            <a:r>
              <a:rPr lang="en-US" sz="1800" dirty="0"/>
              <a:t>Databricks</a:t>
            </a:r>
          </a:p>
          <a:p>
            <a:pPr lvl="1"/>
            <a:r>
              <a:rPr lang="en-US" sz="1800" dirty="0"/>
              <a:t>Access to internet to fetch CVE details (</a:t>
            </a:r>
            <a:r>
              <a:rPr lang="en-US" sz="1800" dirty="0" err="1"/>
              <a:t>Redhat</a:t>
            </a:r>
            <a:r>
              <a:rPr lang="en-US" sz="1800" dirty="0"/>
              <a:t> API, cve.org, cisa.gov)</a:t>
            </a:r>
          </a:p>
          <a:p>
            <a:pPr lvl="1"/>
            <a:r>
              <a:rPr lang="en-US" sz="1800" dirty="0">
                <a:solidFill>
                  <a:schemeClr val="bg1">
                    <a:lumMod val="65000"/>
                  </a:schemeClr>
                </a:solidFill>
              </a:rPr>
              <a:t>Unable to install Python libraries on </a:t>
            </a:r>
            <a:r>
              <a:rPr lang="en-US" sz="1800" dirty="0" err="1">
                <a:solidFill>
                  <a:schemeClr val="bg1">
                    <a:lumMod val="65000"/>
                  </a:schemeClr>
                </a:solidFill>
              </a:rPr>
              <a:t>databricks</a:t>
            </a:r>
            <a:r>
              <a:rPr lang="en-US" sz="1800" dirty="0">
                <a:solidFill>
                  <a:schemeClr val="bg1">
                    <a:lumMod val="65000"/>
                  </a:schemeClr>
                </a:solidFill>
              </a:rPr>
              <a:t> using internal </a:t>
            </a:r>
            <a:r>
              <a:rPr lang="en-US" sz="1800" b="1" u="sng" dirty="0" err="1">
                <a:solidFill>
                  <a:schemeClr val="bg1">
                    <a:lumMod val="65000"/>
                  </a:schemeClr>
                </a:solidFill>
              </a:rPr>
              <a:t>databricks</a:t>
            </a:r>
            <a:r>
              <a:rPr lang="en-US" sz="1800" b="1" u="sng" dirty="0">
                <a:solidFill>
                  <a:schemeClr val="bg1">
                    <a:lumMod val="65000"/>
                  </a:schemeClr>
                </a:solidFill>
              </a:rPr>
              <a:t> library manager</a:t>
            </a:r>
            <a:r>
              <a:rPr lang="en-US" sz="1800" dirty="0">
                <a:solidFill>
                  <a:schemeClr val="bg1">
                    <a:lumMod val="65000"/>
                  </a:schemeClr>
                </a:solidFill>
              </a:rPr>
              <a:t>. (due to blocked </a:t>
            </a:r>
            <a:r>
              <a:rPr lang="en-US" sz="1800" dirty="0" err="1">
                <a:solidFill>
                  <a:schemeClr val="bg1">
                    <a:lumMod val="65000"/>
                  </a:schemeClr>
                </a:solidFill>
              </a:rPr>
              <a:t>pypi</a:t>
            </a:r>
            <a:r>
              <a:rPr lang="en-US" sz="1800" dirty="0">
                <a:solidFill>
                  <a:schemeClr val="bg1">
                    <a:lumMod val="65000"/>
                  </a:schemeClr>
                </a:solidFill>
              </a:rPr>
              <a:t> servers)</a:t>
            </a:r>
            <a:endParaRPr lang="en-US" sz="1800" dirty="0"/>
          </a:p>
          <a:p>
            <a:r>
              <a:rPr lang="en-US" sz="1800" dirty="0"/>
              <a:t>Dedicated SME. </a:t>
            </a:r>
            <a:r>
              <a:rPr lang="en-US" sz="1800" b="1" dirty="0"/>
              <a:t>(2-4hrs support everyday). </a:t>
            </a:r>
          </a:p>
          <a:p>
            <a:pPr lvl="1"/>
            <a:r>
              <a:rPr lang="en-US" sz="1400" dirty="0"/>
              <a:t>understanding current procedure.</a:t>
            </a:r>
          </a:p>
          <a:p>
            <a:pPr lvl="1"/>
            <a:r>
              <a:rPr lang="en-US" sz="1400" dirty="0"/>
              <a:t>identifying reliable websites for CVEs/solutions for patching</a:t>
            </a:r>
          </a:p>
          <a:p>
            <a:pPr lvl="1"/>
            <a:r>
              <a:rPr lang="en-US" sz="1400" dirty="0"/>
              <a:t>Gain domain expertise</a:t>
            </a:r>
          </a:p>
          <a:p>
            <a:pPr lvl="1"/>
            <a:r>
              <a:rPr lang="en-US" sz="1400" dirty="0"/>
              <a:t>Work one-on-one on fixing simple vulnerabilities. (generate training data)</a:t>
            </a:r>
          </a:p>
          <a:p>
            <a:r>
              <a:rPr lang="en-US" sz="1800" dirty="0">
                <a:solidFill>
                  <a:schemeClr val="bg1">
                    <a:lumMod val="65000"/>
                  </a:schemeClr>
                </a:solidFill>
              </a:rPr>
              <a:t>All historical vulnerability data with below columns. (to build graph </a:t>
            </a:r>
            <a:r>
              <a:rPr lang="en-US" sz="1800" dirty="0" err="1">
                <a:solidFill>
                  <a:schemeClr val="bg1">
                    <a:lumMod val="65000"/>
                  </a:schemeClr>
                </a:solidFill>
              </a:rPr>
              <a:t>db</a:t>
            </a:r>
            <a:r>
              <a:rPr lang="en-US" sz="1800" dirty="0">
                <a:solidFill>
                  <a:schemeClr val="bg1">
                    <a:lumMod val="65000"/>
                  </a:schemeClr>
                </a:solidFill>
              </a:rPr>
              <a:t>)</a:t>
            </a:r>
          </a:p>
          <a:p>
            <a:pPr lvl="1"/>
            <a:r>
              <a:rPr lang="en-US" sz="1400" dirty="0">
                <a:solidFill>
                  <a:schemeClr val="bg1">
                    <a:lumMod val="65000"/>
                  </a:schemeClr>
                </a:solidFill>
              </a:rPr>
              <a:t>[App Code, App Name, Asset Name, ENV, Platform, Exposure, First Detection Date, Fix By Date, Status, Treatment Owner, Vuln ID, Vuln Name, App Coordinator, App Custodian, CUSO, L3 Name (ITPM), L4 Name, L5 Name, SOC1/SOX/CJ]</a:t>
            </a:r>
          </a:p>
        </p:txBody>
      </p:sp>
    </p:spTree>
    <p:extLst>
      <p:ext uri="{BB962C8B-B14F-4D97-AF65-F5344CB8AC3E}">
        <p14:creationId xmlns:p14="http://schemas.microsoft.com/office/powerpoint/2010/main" val="243884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E5E4D-DEB9-84F3-9FE3-C5996E94B264}"/>
              </a:ext>
            </a:extLst>
          </p:cNvPr>
          <p:cNvSpPr>
            <a:spLocks noGrp="1"/>
          </p:cNvSpPr>
          <p:nvPr>
            <p:ph type="title"/>
          </p:nvPr>
        </p:nvSpPr>
        <p:spPr/>
        <p:txBody>
          <a:bodyPr/>
          <a:lstStyle/>
          <a:p>
            <a:r>
              <a:rPr lang="en-US" dirty="0"/>
              <a:t>Timeline</a:t>
            </a:r>
          </a:p>
        </p:txBody>
      </p:sp>
      <p:sp>
        <p:nvSpPr>
          <p:cNvPr id="3" name="Content Placeholder 2">
            <a:extLst>
              <a:ext uri="{FF2B5EF4-FFF2-40B4-BE49-F238E27FC236}">
                <a16:creationId xmlns:a16="http://schemas.microsoft.com/office/drawing/2014/main" id="{ACEBAC82-518A-F090-70DA-506690CD8F1F}"/>
              </a:ext>
            </a:extLst>
          </p:cNvPr>
          <p:cNvSpPr>
            <a:spLocks noGrp="1"/>
          </p:cNvSpPr>
          <p:nvPr>
            <p:ph idx="1"/>
          </p:nvPr>
        </p:nvSpPr>
        <p:spPr/>
        <p:txBody>
          <a:bodyPr/>
          <a:lstStyle/>
          <a:p>
            <a:r>
              <a:rPr lang="en-US" dirty="0"/>
              <a:t>Week 1,2 – Update the SHIRE framework to utilize an internal DB to fetch pre-saved CVEs. (gain internet access on RBC </a:t>
            </a:r>
            <a:r>
              <a:rPr lang="en-US" dirty="0" err="1"/>
              <a:t>databricks</a:t>
            </a:r>
            <a:r>
              <a:rPr lang="en-US" dirty="0"/>
              <a:t>)</a:t>
            </a:r>
          </a:p>
          <a:p>
            <a:r>
              <a:rPr lang="en-US" dirty="0"/>
              <a:t>Week 3,4,5,6,7,8 – Work with an SME one-on-one to resolve vulnerabilities on RBC network.</a:t>
            </a:r>
          </a:p>
          <a:p>
            <a:r>
              <a:rPr lang="en-US" dirty="0"/>
              <a:t>Week 9,10 – Analyze recorded SME steps and design workflow.</a:t>
            </a:r>
          </a:p>
          <a:p>
            <a:r>
              <a:rPr lang="en-US" dirty="0"/>
              <a:t>Week 11, 12 – Buffer time to deliver MVP</a:t>
            </a:r>
          </a:p>
        </p:txBody>
      </p:sp>
    </p:spTree>
    <p:extLst>
      <p:ext uri="{BB962C8B-B14F-4D97-AF65-F5344CB8AC3E}">
        <p14:creationId xmlns:p14="http://schemas.microsoft.com/office/powerpoint/2010/main" val="4088353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TotalTime>
  <Words>544</Words>
  <Application>Microsoft Office PowerPoint</Application>
  <PresentationFormat>Widescreen</PresentationFormat>
  <Paragraphs>69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Comic Sans MS</vt:lpstr>
      <vt:lpstr>Office Theme</vt:lpstr>
      <vt:lpstr>SHIRE MVP Plan</vt:lpstr>
      <vt:lpstr>Current Procedure</vt:lpstr>
      <vt:lpstr>SHIRE procedure</vt:lpstr>
      <vt:lpstr>SHIRE Framework</vt:lpstr>
      <vt:lpstr>Current Scope of MVP</vt:lpstr>
      <vt:lpstr>Features in focus</vt:lpstr>
      <vt:lpstr>SHIRE procedure</vt:lpstr>
      <vt:lpstr>Dependencies</vt:lpstr>
      <vt:lpstr>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Yeshwanth Reddy</dc:creator>
  <cp:lastModifiedBy>Yeshwanth Reddy</cp:lastModifiedBy>
  <cp:revision>4</cp:revision>
  <dcterms:created xsi:type="dcterms:W3CDTF">2025-12-08T17:05:33Z</dcterms:created>
  <dcterms:modified xsi:type="dcterms:W3CDTF">2025-12-11T17:45:22Z</dcterms:modified>
</cp:coreProperties>
</file>