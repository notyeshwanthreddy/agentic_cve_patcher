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2" r:id="rId3"/>
    <p:sldId id="264" r:id="rId4"/>
    <p:sldId id="258" r:id="rId5"/>
    <p:sldId id="257"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249" autoAdjust="0"/>
    <p:restoredTop sz="94660"/>
  </p:normalViewPr>
  <p:slideViewPr>
    <p:cSldViewPr snapToGrid="0">
      <p:cViewPr>
        <p:scale>
          <a:sx n="103" d="100"/>
          <a:sy n="103" d="100"/>
        </p:scale>
        <p:origin x="840"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14AB0-A5D6-AACB-F760-B4DC3725261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1CC41E-6EEF-F460-498D-60EB39AFE8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DE7872A-B882-ADA6-132E-AA983E50B4C9}"/>
              </a:ext>
            </a:extLst>
          </p:cNvPr>
          <p:cNvSpPr>
            <a:spLocks noGrp="1"/>
          </p:cNvSpPr>
          <p:nvPr>
            <p:ph type="dt" sz="half" idx="10"/>
          </p:nvPr>
        </p:nvSpPr>
        <p:spPr/>
        <p:txBody>
          <a:bodyPr/>
          <a:lstStyle/>
          <a:p>
            <a:fld id="{76965C12-33FE-42DE-A554-9354EA23FA06}" type="datetimeFigureOut">
              <a:rPr lang="en-US" smtClean="0"/>
              <a:t>12/8/2025</a:t>
            </a:fld>
            <a:endParaRPr lang="en-US"/>
          </a:p>
        </p:txBody>
      </p:sp>
      <p:sp>
        <p:nvSpPr>
          <p:cNvPr id="5" name="Footer Placeholder 4">
            <a:extLst>
              <a:ext uri="{FF2B5EF4-FFF2-40B4-BE49-F238E27FC236}">
                <a16:creationId xmlns:a16="http://schemas.microsoft.com/office/drawing/2014/main" id="{FD84825F-61E1-FBCF-8B68-A61B3388DF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35BFD7-5F38-AF86-CBDB-86E56F44E716}"/>
              </a:ext>
            </a:extLst>
          </p:cNvPr>
          <p:cNvSpPr>
            <a:spLocks noGrp="1"/>
          </p:cNvSpPr>
          <p:nvPr>
            <p:ph type="sldNum" sz="quarter" idx="12"/>
          </p:nvPr>
        </p:nvSpPr>
        <p:spPr/>
        <p:txBody>
          <a:bodyPr/>
          <a:lstStyle/>
          <a:p>
            <a:fld id="{74622923-4493-4C9A-B5CC-58F06A3E0073}" type="slidenum">
              <a:rPr lang="en-US" smtClean="0"/>
              <a:t>‹#›</a:t>
            </a:fld>
            <a:endParaRPr lang="en-US"/>
          </a:p>
        </p:txBody>
      </p:sp>
    </p:spTree>
    <p:extLst>
      <p:ext uri="{BB962C8B-B14F-4D97-AF65-F5344CB8AC3E}">
        <p14:creationId xmlns:p14="http://schemas.microsoft.com/office/powerpoint/2010/main" val="3148147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43409A-86EA-B157-7A4C-5D16D903F41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1B7F8F-0256-BBFE-FE31-E6EB688B4CA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885758-1633-4298-91DA-7C248E5C8C0A}"/>
              </a:ext>
            </a:extLst>
          </p:cNvPr>
          <p:cNvSpPr>
            <a:spLocks noGrp="1"/>
          </p:cNvSpPr>
          <p:nvPr>
            <p:ph type="dt" sz="half" idx="10"/>
          </p:nvPr>
        </p:nvSpPr>
        <p:spPr/>
        <p:txBody>
          <a:bodyPr/>
          <a:lstStyle/>
          <a:p>
            <a:fld id="{76965C12-33FE-42DE-A554-9354EA23FA06}" type="datetimeFigureOut">
              <a:rPr lang="en-US" smtClean="0"/>
              <a:t>12/8/2025</a:t>
            </a:fld>
            <a:endParaRPr lang="en-US"/>
          </a:p>
        </p:txBody>
      </p:sp>
      <p:sp>
        <p:nvSpPr>
          <p:cNvPr id="5" name="Footer Placeholder 4">
            <a:extLst>
              <a:ext uri="{FF2B5EF4-FFF2-40B4-BE49-F238E27FC236}">
                <a16:creationId xmlns:a16="http://schemas.microsoft.com/office/drawing/2014/main" id="{5C65AA9A-8558-E60C-F2EC-BEDC8AF191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010FAD-483C-FF2E-0165-3008D3DBA710}"/>
              </a:ext>
            </a:extLst>
          </p:cNvPr>
          <p:cNvSpPr>
            <a:spLocks noGrp="1"/>
          </p:cNvSpPr>
          <p:nvPr>
            <p:ph type="sldNum" sz="quarter" idx="12"/>
          </p:nvPr>
        </p:nvSpPr>
        <p:spPr/>
        <p:txBody>
          <a:bodyPr/>
          <a:lstStyle/>
          <a:p>
            <a:fld id="{74622923-4493-4C9A-B5CC-58F06A3E0073}" type="slidenum">
              <a:rPr lang="en-US" smtClean="0"/>
              <a:t>‹#›</a:t>
            </a:fld>
            <a:endParaRPr lang="en-US"/>
          </a:p>
        </p:txBody>
      </p:sp>
    </p:spTree>
    <p:extLst>
      <p:ext uri="{BB962C8B-B14F-4D97-AF65-F5344CB8AC3E}">
        <p14:creationId xmlns:p14="http://schemas.microsoft.com/office/powerpoint/2010/main" val="37774191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C284C-2420-CBE8-8C2E-9E440B81B49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43CB59B-5E16-CFBF-23CB-1B7B173BBA2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9B83362-5A6B-DC53-E643-53D9FA14FC9D}"/>
              </a:ext>
            </a:extLst>
          </p:cNvPr>
          <p:cNvSpPr>
            <a:spLocks noGrp="1"/>
          </p:cNvSpPr>
          <p:nvPr>
            <p:ph type="dt" sz="half" idx="10"/>
          </p:nvPr>
        </p:nvSpPr>
        <p:spPr/>
        <p:txBody>
          <a:bodyPr/>
          <a:lstStyle/>
          <a:p>
            <a:fld id="{76965C12-33FE-42DE-A554-9354EA23FA06}" type="datetimeFigureOut">
              <a:rPr lang="en-US" smtClean="0"/>
              <a:t>12/8/2025</a:t>
            </a:fld>
            <a:endParaRPr lang="en-US"/>
          </a:p>
        </p:txBody>
      </p:sp>
      <p:sp>
        <p:nvSpPr>
          <p:cNvPr id="5" name="Footer Placeholder 4">
            <a:extLst>
              <a:ext uri="{FF2B5EF4-FFF2-40B4-BE49-F238E27FC236}">
                <a16:creationId xmlns:a16="http://schemas.microsoft.com/office/drawing/2014/main" id="{209E8633-C786-625B-D9C3-D1D0A1E75A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74D2E3-62E7-2806-CC1E-4DF479E70A3B}"/>
              </a:ext>
            </a:extLst>
          </p:cNvPr>
          <p:cNvSpPr>
            <a:spLocks noGrp="1"/>
          </p:cNvSpPr>
          <p:nvPr>
            <p:ph type="sldNum" sz="quarter" idx="12"/>
          </p:nvPr>
        </p:nvSpPr>
        <p:spPr/>
        <p:txBody>
          <a:bodyPr/>
          <a:lstStyle/>
          <a:p>
            <a:fld id="{74622923-4493-4C9A-B5CC-58F06A3E0073}" type="slidenum">
              <a:rPr lang="en-US" smtClean="0"/>
              <a:t>‹#›</a:t>
            </a:fld>
            <a:endParaRPr lang="en-US"/>
          </a:p>
        </p:txBody>
      </p:sp>
    </p:spTree>
    <p:extLst>
      <p:ext uri="{BB962C8B-B14F-4D97-AF65-F5344CB8AC3E}">
        <p14:creationId xmlns:p14="http://schemas.microsoft.com/office/powerpoint/2010/main" val="19539227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C53C5-6039-F07F-82DC-AAE95E36C4E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359B562-EE71-2547-FF66-43F00727B9E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90A1225-B6AB-2332-6840-61B257D6DE4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A644C25-A6C2-CDFF-8CF2-CD7317D4994C}"/>
              </a:ext>
            </a:extLst>
          </p:cNvPr>
          <p:cNvSpPr>
            <a:spLocks noGrp="1"/>
          </p:cNvSpPr>
          <p:nvPr>
            <p:ph type="dt" sz="half" idx="10"/>
          </p:nvPr>
        </p:nvSpPr>
        <p:spPr/>
        <p:txBody>
          <a:bodyPr/>
          <a:lstStyle/>
          <a:p>
            <a:fld id="{76965C12-33FE-42DE-A554-9354EA23FA06}" type="datetimeFigureOut">
              <a:rPr lang="en-US" smtClean="0"/>
              <a:t>12/8/2025</a:t>
            </a:fld>
            <a:endParaRPr lang="en-US"/>
          </a:p>
        </p:txBody>
      </p:sp>
      <p:sp>
        <p:nvSpPr>
          <p:cNvPr id="6" name="Footer Placeholder 5">
            <a:extLst>
              <a:ext uri="{FF2B5EF4-FFF2-40B4-BE49-F238E27FC236}">
                <a16:creationId xmlns:a16="http://schemas.microsoft.com/office/drawing/2014/main" id="{D2CBA61D-24DC-2B1C-2D5F-DAF94B06258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0C44FD2-CDC9-27A1-5C1C-B16C805522F7}"/>
              </a:ext>
            </a:extLst>
          </p:cNvPr>
          <p:cNvSpPr>
            <a:spLocks noGrp="1"/>
          </p:cNvSpPr>
          <p:nvPr>
            <p:ph type="sldNum" sz="quarter" idx="12"/>
          </p:nvPr>
        </p:nvSpPr>
        <p:spPr/>
        <p:txBody>
          <a:bodyPr/>
          <a:lstStyle/>
          <a:p>
            <a:fld id="{74622923-4493-4C9A-B5CC-58F06A3E0073}" type="slidenum">
              <a:rPr lang="en-US" smtClean="0"/>
              <a:t>‹#›</a:t>
            </a:fld>
            <a:endParaRPr lang="en-US"/>
          </a:p>
        </p:txBody>
      </p:sp>
    </p:spTree>
    <p:extLst>
      <p:ext uri="{BB962C8B-B14F-4D97-AF65-F5344CB8AC3E}">
        <p14:creationId xmlns:p14="http://schemas.microsoft.com/office/powerpoint/2010/main" val="5485369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B65DD-9333-622A-B906-9729F351CE1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3135C2C-2768-C8A2-E982-C4DE1929C2B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F4BD388-A3B3-7A46-9407-4164646DDA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221D1FB-74A9-486A-9325-D536664303E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469B054-7BED-BBB6-3C1D-070FDF99F08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F03C62A-D16E-FD79-85EE-2D719E8C0328}"/>
              </a:ext>
            </a:extLst>
          </p:cNvPr>
          <p:cNvSpPr>
            <a:spLocks noGrp="1"/>
          </p:cNvSpPr>
          <p:nvPr>
            <p:ph type="dt" sz="half" idx="10"/>
          </p:nvPr>
        </p:nvSpPr>
        <p:spPr/>
        <p:txBody>
          <a:bodyPr/>
          <a:lstStyle/>
          <a:p>
            <a:fld id="{76965C12-33FE-42DE-A554-9354EA23FA06}" type="datetimeFigureOut">
              <a:rPr lang="en-US" smtClean="0"/>
              <a:t>12/8/2025</a:t>
            </a:fld>
            <a:endParaRPr lang="en-US"/>
          </a:p>
        </p:txBody>
      </p:sp>
      <p:sp>
        <p:nvSpPr>
          <p:cNvPr id="8" name="Footer Placeholder 7">
            <a:extLst>
              <a:ext uri="{FF2B5EF4-FFF2-40B4-BE49-F238E27FC236}">
                <a16:creationId xmlns:a16="http://schemas.microsoft.com/office/drawing/2014/main" id="{8DE90A75-1FC1-C5B6-71F3-7DFEE4DCB3A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AF05F24-3043-3F59-A23F-39F83C0E050F}"/>
              </a:ext>
            </a:extLst>
          </p:cNvPr>
          <p:cNvSpPr>
            <a:spLocks noGrp="1"/>
          </p:cNvSpPr>
          <p:nvPr>
            <p:ph type="sldNum" sz="quarter" idx="12"/>
          </p:nvPr>
        </p:nvSpPr>
        <p:spPr/>
        <p:txBody>
          <a:bodyPr/>
          <a:lstStyle/>
          <a:p>
            <a:fld id="{74622923-4493-4C9A-B5CC-58F06A3E0073}" type="slidenum">
              <a:rPr lang="en-US" smtClean="0"/>
              <a:t>‹#›</a:t>
            </a:fld>
            <a:endParaRPr lang="en-US"/>
          </a:p>
        </p:txBody>
      </p:sp>
    </p:spTree>
    <p:extLst>
      <p:ext uri="{BB962C8B-B14F-4D97-AF65-F5344CB8AC3E}">
        <p14:creationId xmlns:p14="http://schemas.microsoft.com/office/powerpoint/2010/main" val="2958832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2EFB95-6486-413C-17A7-E696E76822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2FD2531-1DF8-1BED-316F-6DF0BA93261A}"/>
              </a:ext>
            </a:extLst>
          </p:cNvPr>
          <p:cNvSpPr>
            <a:spLocks noGrp="1"/>
          </p:cNvSpPr>
          <p:nvPr>
            <p:ph type="dt" sz="half" idx="10"/>
          </p:nvPr>
        </p:nvSpPr>
        <p:spPr/>
        <p:txBody>
          <a:bodyPr/>
          <a:lstStyle/>
          <a:p>
            <a:fld id="{76965C12-33FE-42DE-A554-9354EA23FA06}" type="datetimeFigureOut">
              <a:rPr lang="en-US" smtClean="0"/>
              <a:t>12/8/2025</a:t>
            </a:fld>
            <a:endParaRPr lang="en-US"/>
          </a:p>
        </p:txBody>
      </p:sp>
      <p:sp>
        <p:nvSpPr>
          <p:cNvPr id="4" name="Footer Placeholder 3">
            <a:extLst>
              <a:ext uri="{FF2B5EF4-FFF2-40B4-BE49-F238E27FC236}">
                <a16:creationId xmlns:a16="http://schemas.microsoft.com/office/drawing/2014/main" id="{DC820B51-A070-6C02-EAB0-E650F304331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6539871-634E-A60B-76C9-E2C952F2E1FD}"/>
              </a:ext>
            </a:extLst>
          </p:cNvPr>
          <p:cNvSpPr>
            <a:spLocks noGrp="1"/>
          </p:cNvSpPr>
          <p:nvPr>
            <p:ph type="sldNum" sz="quarter" idx="12"/>
          </p:nvPr>
        </p:nvSpPr>
        <p:spPr/>
        <p:txBody>
          <a:bodyPr/>
          <a:lstStyle/>
          <a:p>
            <a:fld id="{74622923-4493-4C9A-B5CC-58F06A3E0073}" type="slidenum">
              <a:rPr lang="en-US" smtClean="0"/>
              <a:t>‹#›</a:t>
            </a:fld>
            <a:endParaRPr lang="en-US"/>
          </a:p>
        </p:txBody>
      </p:sp>
    </p:spTree>
    <p:extLst>
      <p:ext uri="{BB962C8B-B14F-4D97-AF65-F5344CB8AC3E}">
        <p14:creationId xmlns:p14="http://schemas.microsoft.com/office/powerpoint/2010/main" val="1032423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A8AD2E7-D136-89AB-00D4-791B46A41498}"/>
              </a:ext>
            </a:extLst>
          </p:cNvPr>
          <p:cNvSpPr>
            <a:spLocks noGrp="1"/>
          </p:cNvSpPr>
          <p:nvPr>
            <p:ph type="dt" sz="half" idx="10"/>
          </p:nvPr>
        </p:nvSpPr>
        <p:spPr/>
        <p:txBody>
          <a:bodyPr/>
          <a:lstStyle/>
          <a:p>
            <a:fld id="{76965C12-33FE-42DE-A554-9354EA23FA06}" type="datetimeFigureOut">
              <a:rPr lang="en-US" smtClean="0"/>
              <a:t>12/8/2025</a:t>
            </a:fld>
            <a:endParaRPr lang="en-US"/>
          </a:p>
        </p:txBody>
      </p:sp>
      <p:sp>
        <p:nvSpPr>
          <p:cNvPr id="3" name="Footer Placeholder 2">
            <a:extLst>
              <a:ext uri="{FF2B5EF4-FFF2-40B4-BE49-F238E27FC236}">
                <a16:creationId xmlns:a16="http://schemas.microsoft.com/office/drawing/2014/main" id="{DE5989F4-9865-2DF4-B4A0-976659B9D69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CDB78FD-0A1C-6CF3-E2B1-72DA008768D8}"/>
              </a:ext>
            </a:extLst>
          </p:cNvPr>
          <p:cNvSpPr>
            <a:spLocks noGrp="1"/>
          </p:cNvSpPr>
          <p:nvPr>
            <p:ph type="sldNum" sz="quarter" idx="12"/>
          </p:nvPr>
        </p:nvSpPr>
        <p:spPr/>
        <p:txBody>
          <a:bodyPr/>
          <a:lstStyle/>
          <a:p>
            <a:fld id="{74622923-4493-4C9A-B5CC-58F06A3E0073}" type="slidenum">
              <a:rPr lang="en-US" smtClean="0"/>
              <a:t>‹#›</a:t>
            </a:fld>
            <a:endParaRPr lang="en-US"/>
          </a:p>
        </p:txBody>
      </p:sp>
    </p:spTree>
    <p:extLst>
      <p:ext uri="{BB962C8B-B14F-4D97-AF65-F5344CB8AC3E}">
        <p14:creationId xmlns:p14="http://schemas.microsoft.com/office/powerpoint/2010/main" val="29122104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2F188A-DB4E-BEA4-880E-11B6058A03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C336ADB-0466-886D-E916-3B4964BA93A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FE2D32B-01FD-939E-CE4E-22651CC6C9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D9C9A5-D3D7-6AA8-A75C-E26D17165A07}"/>
              </a:ext>
            </a:extLst>
          </p:cNvPr>
          <p:cNvSpPr>
            <a:spLocks noGrp="1"/>
          </p:cNvSpPr>
          <p:nvPr>
            <p:ph type="dt" sz="half" idx="10"/>
          </p:nvPr>
        </p:nvSpPr>
        <p:spPr/>
        <p:txBody>
          <a:bodyPr/>
          <a:lstStyle/>
          <a:p>
            <a:fld id="{76965C12-33FE-42DE-A554-9354EA23FA06}" type="datetimeFigureOut">
              <a:rPr lang="en-US" smtClean="0"/>
              <a:t>12/8/2025</a:t>
            </a:fld>
            <a:endParaRPr lang="en-US"/>
          </a:p>
        </p:txBody>
      </p:sp>
      <p:sp>
        <p:nvSpPr>
          <p:cNvPr id="6" name="Footer Placeholder 5">
            <a:extLst>
              <a:ext uri="{FF2B5EF4-FFF2-40B4-BE49-F238E27FC236}">
                <a16:creationId xmlns:a16="http://schemas.microsoft.com/office/drawing/2014/main" id="{1FB4C58B-19D5-C339-5066-98D309E8A06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79A070-FD9D-A699-D241-5FFC2661FB99}"/>
              </a:ext>
            </a:extLst>
          </p:cNvPr>
          <p:cNvSpPr>
            <a:spLocks noGrp="1"/>
          </p:cNvSpPr>
          <p:nvPr>
            <p:ph type="sldNum" sz="quarter" idx="12"/>
          </p:nvPr>
        </p:nvSpPr>
        <p:spPr/>
        <p:txBody>
          <a:bodyPr/>
          <a:lstStyle/>
          <a:p>
            <a:fld id="{74622923-4493-4C9A-B5CC-58F06A3E0073}" type="slidenum">
              <a:rPr lang="en-US" smtClean="0"/>
              <a:t>‹#›</a:t>
            </a:fld>
            <a:endParaRPr lang="en-US"/>
          </a:p>
        </p:txBody>
      </p:sp>
    </p:spTree>
    <p:extLst>
      <p:ext uri="{BB962C8B-B14F-4D97-AF65-F5344CB8AC3E}">
        <p14:creationId xmlns:p14="http://schemas.microsoft.com/office/powerpoint/2010/main" val="14050080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72703-41BC-AF6D-8515-3D4DCBFE4C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D03EF9C-3A23-B8B1-091A-BCFE648E058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A9336EE-D4FA-1602-7DB5-DE49A2687B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86F5F7-E167-2C53-8A7F-93D29C35DA1E}"/>
              </a:ext>
            </a:extLst>
          </p:cNvPr>
          <p:cNvSpPr>
            <a:spLocks noGrp="1"/>
          </p:cNvSpPr>
          <p:nvPr>
            <p:ph type="dt" sz="half" idx="10"/>
          </p:nvPr>
        </p:nvSpPr>
        <p:spPr/>
        <p:txBody>
          <a:bodyPr/>
          <a:lstStyle/>
          <a:p>
            <a:fld id="{76965C12-33FE-42DE-A554-9354EA23FA06}" type="datetimeFigureOut">
              <a:rPr lang="en-US" smtClean="0"/>
              <a:t>12/8/2025</a:t>
            </a:fld>
            <a:endParaRPr lang="en-US"/>
          </a:p>
        </p:txBody>
      </p:sp>
      <p:sp>
        <p:nvSpPr>
          <p:cNvPr id="6" name="Footer Placeholder 5">
            <a:extLst>
              <a:ext uri="{FF2B5EF4-FFF2-40B4-BE49-F238E27FC236}">
                <a16:creationId xmlns:a16="http://schemas.microsoft.com/office/drawing/2014/main" id="{5D9EEBC2-C96C-380C-E4AD-749163F439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30DA1E-2ABA-1A04-D51E-D9C22534D3DA}"/>
              </a:ext>
            </a:extLst>
          </p:cNvPr>
          <p:cNvSpPr>
            <a:spLocks noGrp="1"/>
          </p:cNvSpPr>
          <p:nvPr>
            <p:ph type="sldNum" sz="quarter" idx="12"/>
          </p:nvPr>
        </p:nvSpPr>
        <p:spPr/>
        <p:txBody>
          <a:bodyPr/>
          <a:lstStyle/>
          <a:p>
            <a:fld id="{74622923-4493-4C9A-B5CC-58F06A3E0073}" type="slidenum">
              <a:rPr lang="en-US" smtClean="0"/>
              <a:t>‹#›</a:t>
            </a:fld>
            <a:endParaRPr lang="en-US"/>
          </a:p>
        </p:txBody>
      </p:sp>
    </p:spTree>
    <p:extLst>
      <p:ext uri="{BB962C8B-B14F-4D97-AF65-F5344CB8AC3E}">
        <p14:creationId xmlns:p14="http://schemas.microsoft.com/office/powerpoint/2010/main" val="9925531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881B7-AF1A-34E9-BE0C-F7386FCBB9B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D66C08C-0008-119B-CC0C-69B223F6973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D35DED-8E5D-0435-59A5-DFE127D34319}"/>
              </a:ext>
            </a:extLst>
          </p:cNvPr>
          <p:cNvSpPr>
            <a:spLocks noGrp="1"/>
          </p:cNvSpPr>
          <p:nvPr>
            <p:ph type="dt" sz="half" idx="10"/>
          </p:nvPr>
        </p:nvSpPr>
        <p:spPr/>
        <p:txBody>
          <a:bodyPr/>
          <a:lstStyle/>
          <a:p>
            <a:fld id="{76965C12-33FE-42DE-A554-9354EA23FA06}" type="datetimeFigureOut">
              <a:rPr lang="en-US" smtClean="0"/>
              <a:t>12/8/2025</a:t>
            </a:fld>
            <a:endParaRPr lang="en-US"/>
          </a:p>
        </p:txBody>
      </p:sp>
      <p:sp>
        <p:nvSpPr>
          <p:cNvPr id="5" name="Footer Placeholder 4">
            <a:extLst>
              <a:ext uri="{FF2B5EF4-FFF2-40B4-BE49-F238E27FC236}">
                <a16:creationId xmlns:a16="http://schemas.microsoft.com/office/drawing/2014/main" id="{E0E0A7AD-DD96-30ED-481F-540A42824D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C0C3E4-0DC7-1FDF-2AC1-0EF4D26A0BB4}"/>
              </a:ext>
            </a:extLst>
          </p:cNvPr>
          <p:cNvSpPr>
            <a:spLocks noGrp="1"/>
          </p:cNvSpPr>
          <p:nvPr>
            <p:ph type="sldNum" sz="quarter" idx="12"/>
          </p:nvPr>
        </p:nvSpPr>
        <p:spPr/>
        <p:txBody>
          <a:bodyPr/>
          <a:lstStyle/>
          <a:p>
            <a:fld id="{74622923-4493-4C9A-B5CC-58F06A3E0073}" type="slidenum">
              <a:rPr lang="en-US" smtClean="0"/>
              <a:t>‹#›</a:t>
            </a:fld>
            <a:endParaRPr lang="en-US"/>
          </a:p>
        </p:txBody>
      </p:sp>
    </p:spTree>
    <p:extLst>
      <p:ext uri="{BB962C8B-B14F-4D97-AF65-F5344CB8AC3E}">
        <p14:creationId xmlns:p14="http://schemas.microsoft.com/office/powerpoint/2010/main" val="30734146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F7D2032-A405-F6A8-22D2-42F6C8B872F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1EF66C7-9D34-074E-F1CD-D29F1361D26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56E8A9E-14FA-0425-EB26-37B7D0728599}"/>
              </a:ext>
            </a:extLst>
          </p:cNvPr>
          <p:cNvSpPr>
            <a:spLocks noGrp="1"/>
          </p:cNvSpPr>
          <p:nvPr>
            <p:ph type="dt" sz="half" idx="10"/>
          </p:nvPr>
        </p:nvSpPr>
        <p:spPr/>
        <p:txBody>
          <a:bodyPr/>
          <a:lstStyle/>
          <a:p>
            <a:fld id="{76965C12-33FE-42DE-A554-9354EA23FA06}" type="datetimeFigureOut">
              <a:rPr lang="en-US" smtClean="0"/>
              <a:t>12/8/2025</a:t>
            </a:fld>
            <a:endParaRPr lang="en-US"/>
          </a:p>
        </p:txBody>
      </p:sp>
      <p:sp>
        <p:nvSpPr>
          <p:cNvPr id="5" name="Footer Placeholder 4">
            <a:extLst>
              <a:ext uri="{FF2B5EF4-FFF2-40B4-BE49-F238E27FC236}">
                <a16:creationId xmlns:a16="http://schemas.microsoft.com/office/drawing/2014/main" id="{9938BA91-0A59-D28A-3A72-71476EABA2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D619D3-A7AC-6865-07D3-0A7EBDA23169}"/>
              </a:ext>
            </a:extLst>
          </p:cNvPr>
          <p:cNvSpPr>
            <a:spLocks noGrp="1"/>
          </p:cNvSpPr>
          <p:nvPr>
            <p:ph type="sldNum" sz="quarter" idx="12"/>
          </p:nvPr>
        </p:nvSpPr>
        <p:spPr/>
        <p:txBody>
          <a:bodyPr/>
          <a:lstStyle/>
          <a:p>
            <a:fld id="{74622923-4493-4C9A-B5CC-58F06A3E0073}" type="slidenum">
              <a:rPr lang="en-US" smtClean="0"/>
              <a:t>‹#›</a:t>
            </a:fld>
            <a:endParaRPr lang="en-US"/>
          </a:p>
        </p:txBody>
      </p:sp>
    </p:spTree>
    <p:extLst>
      <p:ext uri="{BB962C8B-B14F-4D97-AF65-F5344CB8AC3E}">
        <p14:creationId xmlns:p14="http://schemas.microsoft.com/office/powerpoint/2010/main" val="31239678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C8EB76B-B915-25F1-882C-EA341F7447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1DB598C-7DA7-3D77-5072-F84708E436F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2D9414-6775-5189-D0A2-30E40F232D8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6965C12-33FE-42DE-A554-9354EA23FA06}" type="datetimeFigureOut">
              <a:rPr lang="en-US" smtClean="0"/>
              <a:t>12/8/2025</a:t>
            </a:fld>
            <a:endParaRPr lang="en-US"/>
          </a:p>
        </p:txBody>
      </p:sp>
      <p:sp>
        <p:nvSpPr>
          <p:cNvPr id="5" name="Footer Placeholder 4">
            <a:extLst>
              <a:ext uri="{FF2B5EF4-FFF2-40B4-BE49-F238E27FC236}">
                <a16:creationId xmlns:a16="http://schemas.microsoft.com/office/drawing/2014/main" id="{12102CB2-DE34-7D34-FA68-F8C5032DEA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6E9DFE8-FF2F-3538-47B8-8983FC58D2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4622923-4493-4C9A-B5CC-58F06A3E0073}" type="slidenum">
              <a:rPr lang="en-US" smtClean="0"/>
              <a:t>‹#›</a:t>
            </a:fld>
            <a:endParaRPr lang="en-US"/>
          </a:p>
        </p:txBody>
      </p:sp>
    </p:spTree>
    <p:extLst>
      <p:ext uri="{BB962C8B-B14F-4D97-AF65-F5344CB8AC3E}">
        <p14:creationId xmlns:p14="http://schemas.microsoft.com/office/powerpoint/2010/main" val="33172263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1.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5C69E-EAFC-0668-887F-16AAEF4834E8}"/>
              </a:ext>
            </a:extLst>
          </p:cNvPr>
          <p:cNvSpPr>
            <a:spLocks noGrp="1"/>
          </p:cNvSpPr>
          <p:nvPr>
            <p:ph type="ctrTitle"/>
          </p:nvPr>
        </p:nvSpPr>
        <p:spPr/>
        <p:txBody>
          <a:bodyPr/>
          <a:lstStyle/>
          <a:p>
            <a:r>
              <a:rPr lang="en-US" dirty="0"/>
              <a:t>SHIRE MVP Plan</a:t>
            </a:r>
          </a:p>
        </p:txBody>
      </p:sp>
      <p:sp>
        <p:nvSpPr>
          <p:cNvPr id="3" name="Subtitle 2">
            <a:extLst>
              <a:ext uri="{FF2B5EF4-FFF2-40B4-BE49-F238E27FC236}">
                <a16:creationId xmlns:a16="http://schemas.microsoft.com/office/drawing/2014/main" id="{9C409128-A2B4-95D7-F5C1-DCB030D8335C}"/>
              </a:ext>
            </a:extLst>
          </p:cNvPr>
          <p:cNvSpPr>
            <a:spLocks noGrp="1"/>
          </p:cNvSpPr>
          <p:nvPr>
            <p:ph type="subTitle" idx="1"/>
          </p:nvPr>
        </p:nvSpPr>
        <p:spPr/>
        <p:txBody>
          <a:bodyPr/>
          <a:lstStyle/>
          <a:p>
            <a:r>
              <a:rPr lang="en-US" dirty="0"/>
              <a:t>Requirements to deploy SHIRE MVP on RBC environment.</a:t>
            </a:r>
          </a:p>
        </p:txBody>
      </p:sp>
    </p:spTree>
    <p:extLst>
      <p:ext uri="{BB962C8B-B14F-4D97-AF65-F5344CB8AC3E}">
        <p14:creationId xmlns:p14="http://schemas.microsoft.com/office/powerpoint/2010/main" val="32250762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3BD3C-7385-F4C4-F8B3-E2E8ABC523F4}"/>
            </a:ext>
          </a:extLst>
        </p:cNvPr>
        <p:cNvGrpSpPr/>
        <p:nvPr/>
      </p:nvGrpSpPr>
      <p:grpSpPr>
        <a:xfrm>
          <a:off x="0" y="0"/>
          <a:ext cx="0" cy="0"/>
          <a:chOff x="0" y="0"/>
          <a:chExt cx="0" cy="0"/>
        </a:xfrm>
      </p:grpSpPr>
      <p:pic>
        <p:nvPicPr>
          <p:cNvPr id="1028" name="Picture 4" descr="Developer - Free computer icons">
            <a:extLst>
              <a:ext uri="{FF2B5EF4-FFF2-40B4-BE49-F238E27FC236}">
                <a16:creationId xmlns:a16="http://schemas.microsoft.com/office/drawing/2014/main" id="{13571421-0B1F-B415-37BE-E4C1EC251E3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02548" y="3653564"/>
            <a:ext cx="683491" cy="683491"/>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CEB10097-8D12-638C-EF3A-1A5A2A0DAEBC}"/>
              </a:ext>
            </a:extLst>
          </p:cNvPr>
          <p:cNvGrpSpPr/>
          <p:nvPr/>
        </p:nvGrpSpPr>
        <p:grpSpPr>
          <a:xfrm>
            <a:off x="4079010" y="1889415"/>
            <a:ext cx="930566" cy="768926"/>
            <a:chOff x="1939637" y="2290618"/>
            <a:chExt cx="930566" cy="768926"/>
          </a:xfrm>
        </p:grpSpPr>
        <p:pic>
          <p:nvPicPr>
            <p:cNvPr id="1030" name="Picture 6" descr="Virtual physical host CPS Vector Icons free download in SVG, PNG Format">
              <a:extLst>
                <a:ext uri="{FF2B5EF4-FFF2-40B4-BE49-F238E27FC236}">
                  <a16:creationId xmlns:a16="http://schemas.microsoft.com/office/drawing/2014/main" id="{6458BAED-5DC3-4815-7F60-D8C0C37F61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39637" y="2376053"/>
              <a:ext cx="683491" cy="683491"/>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Vulnerability Generic color outline icon | Freepik">
              <a:extLst>
                <a:ext uri="{FF2B5EF4-FFF2-40B4-BE49-F238E27FC236}">
                  <a16:creationId xmlns:a16="http://schemas.microsoft.com/office/drawing/2014/main" id="{767E7D77-7963-55BC-B0C8-5DD9C15E883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72147" y="2290618"/>
              <a:ext cx="598056" cy="598056"/>
            </a:xfrm>
            <a:prstGeom prst="rect">
              <a:avLst/>
            </a:prstGeom>
            <a:noFill/>
            <a:extLst>
              <a:ext uri="{909E8E84-426E-40DD-AFC4-6F175D3DCCD1}">
                <a14:hiddenFill xmlns:a14="http://schemas.microsoft.com/office/drawing/2010/main">
                  <a:solidFill>
                    <a:srgbClr val="FFFFFF"/>
                  </a:solidFill>
                </a14:hiddenFill>
              </a:ext>
            </a:extLst>
          </p:spPr>
        </p:pic>
      </p:grpSp>
      <p:pic>
        <p:nvPicPr>
          <p:cNvPr id="2" name="Picture 6" descr="Virtual physical host CPS Vector Icons free download in SVG, PNG Format">
            <a:extLst>
              <a:ext uri="{FF2B5EF4-FFF2-40B4-BE49-F238E27FC236}">
                <a16:creationId xmlns:a16="http://schemas.microsoft.com/office/drawing/2014/main" id="{773AA90B-AC7A-5A0B-36E9-2077333F13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92521" y="3709562"/>
            <a:ext cx="683491" cy="683491"/>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Dashboard Tableau Software Data visualization Infographic Information,  infographic, text png | PNGEgg">
            <a:extLst>
              <a:ext uri="{FF2B5EF4-FFF2-40B4-BE49-F238E27FC236}">
                <a16:creationId xmlns:a16="http://schemas.microsoft.com/office/drawing/2014/main" id="{578552AC-3DB1-ACAE-27E5-D9AEC9BAB52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6721" t="17212" r="26296" b="18632"/>
          <a:stretch>
            <a:fillRect/>
          </a:stretch>
        </p:blipFill>
        <p:spPr bwMode="auto">
          <a:xfrm>
            <a:off x="371875" y="3801343"/>
            <a:ext cx="769859" cy="598056"/>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0A97CB5C-7477-9D4E-B35A-980C2D60FAD0}"/>
              </a:ext>
            </a:extLst>
          </p:cNvPr>
          <p:cNvGrpSpPr/>
          <p:nvPr/>
        </p:nvGrpSpPr>
        <p:grpSpPr>
          <a:xfrm>
            <a:off x="2213041" y="2562513"/>
            <a:ext cx="616751" cy="3118432"/>
            <a:chOff x="2462423" y="2036041"/>
            <a:chExt cx="616751" cy="3118432"/>
          </a:xfrm>
        </p:grpSpPr>
        <p:pic>
          <p:nvPicPr>
            <p:cNvPr id="1038" name="Picture 14" descr="Vulnerability Generic color outline icon | Freepik">
              <a:extLst>
                <a:ext uri="{FF2B5EF4-FFF2-40B4-BE49-F238E27FC236}">
                  <a16:creationId xmlns:a16="http://schemas.microsoft.com/office/drawing/2014/main" id="{11812950-D54B-15E8-372E-EE38E207C5B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62423" y="3274871"/>
              <a:ext cx="598056" cy="59805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descr="Vulnerability Generic color outline icon | Freepik">
              <a:extLst>
                <a:ext uri="{FF2B5EF4-FFF2-40B4-BE49-F238E27FC236}">
                  <a16:creationId xmlns:a16="http://schemas.microsoft.com/office/drawing/2014/main" id="{1777A2DD-7AA5-5E92-2FF8-1033EC43AC12}"/>
                </a:ext>
              </a:extLst>
            </p:cNvPr>
            <p:cNvPicPr>
              <a:picLocks noChangeAspect="1" noChangeArrowheads="1"/>
            </p:cNvPicPr>
            <p:nvPr/>
          </p:nvPicPr>
          <p:blipFill>
            <a:blip r:embed="rId4">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481118" y="2634097"/>
              <a:ext cx="598056" cy="598056"/>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4" descr="Vulnerability Generic color outline icon | Freepik">
              <a:extLst>
                <a:ext uri="{FF2B5EF4-FFF2-40B4-BE49-F238E27FC236}">
                  <a16:creationId xmlns:a16="http://schemas.microsoft.com/office/drawing/2014/main" id="{6F305381-73BC-987C-1BAD-6DEB80C3D187}"/>
                </a:ext>
              </a:extLst>
            </p:cNvPr>
            <p:cNvPicPr>
              <a:picLocks noChangeAspect="1" noChangeArrowheads="1"/>
            </p:cNvPicPr>
            <p:nvPr/>
          </p:nvPicPr>
          <p:blipFill>
            <a:blip r:embed="rId4">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2462423" y="2036041"/>
              <a:ext cx="598056" cy="59805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4" descr="Vulnerability Generic color outline icon | Freepik">
              <a:extLst>
                <a:ext uri="{FF2B5EF4-FFF2-40B4-BE49-F238E27FC236}">
                  <a16:creationId xmlns:a16="http://schemas.microsoft.com/office/drawing/2014/main" id="{ED54DCE2-639A-6846-84E9-6E18F08F244A}"/>
                </a:ext>
              </a:extLst>
            </p:cNvPr>
            <p:cNvPicPr>
              <a:picLocks noChangeAspect="1" noChangeArrowheads="1"/>
            </p:cNvPicPr>
            <p:nvPr/>
          </p:nvPicPr>
          <p:blipFill>
            <a:blip r:embed="rId4">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462423" y="3915644"/>
              <a:ext cx="598056" cy="59805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14" descr="Vulnerability Generic color outline icon | Freepik">
              <a:extLst>
                <a:ext uri="{FF2B5EF4-FFF2-40B4-BE49-F238E27FC236}">
                  <a16:creationId xmlns:a16="http://schemas.microsoft.com/office/drawing/2014/main" id="{869B8855-2688-9527-902E-93376E3AC04E}"/>
                </a:ext>
              </a:extLst>
            </p:cNvPr>
            <p:cNvPicPr>
              <a:picLocks noChangeAspect="1" noChangeArrowheads="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462423" y="4556417"/>
              <a:ext cx="598056" cy="598056"/>
            </a:xfrm>
            <a:prstGeom prst="rect">
              <a:avLst/>
            </a:prstGeom>
            <a:noFill/>
            <a:extLst>
              <a:ext uri="{909E8E84-426E-40DD-AFC4-6F175D3DCCD1}">
                <a14:hiddenFill xmlns:a14="http://schemas.microsoft.com/office/drawing/2010/main">
                  <a:solidFill>
                    <a:srgbClr val="FFFFFF"/>
                  </a:solidFill>
                </a14:hiddenFill>
              </a:ext>
            </a:extLst>
          </p:spPr>
        </p:pic>
      </p:grpSp>
      <p:sp>
        <p:nvSpPr>
          <p:cNvPr id="21" name="Arrow: Right 20">
            <a:extLst>
              <a:ext uri="{FF2B5EF4-FFF2-40B4-BE49-F238E27FC236}">
                <a16:creationId xmlns:a16="http://schemas.microsoft.com/office/drawing/2014/main" id="{CE5E6962-8A82-2739-4DDD-9235CADE8646}"/>
              </a:ext>
            </a:extLst>
          </p:cNvPr>
          <p:cNvSpPr/>
          <p:nvPr/>
        </p:nvSpPr>
        <p:spPr>
          <a:xfrm>
            <a:off x="1362829" y="3995309"/>
            <a:ext cx="598056" cy="1726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34F20160-067C-AC63-24FD-5214528C78C2}"/>
              </a:ext>
            </a:extLst>
          </p:cNvPr>
          <p:cNvSpPr/>
          <p:nvPr/>
        </p:nvSpPr>
        <p:spPr>
          <a:xfrm>
            <a:off x="3217142" y="3995308"/>
            <a:ext cx="598056" cy="1726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Arrow: Left-Right 22">
            <a:extLst>
              <a:ext uri="{FF2B5EF4-FFF2-40B4-BE49-F238E27FC236}">
                <a16:creationId xmlns:a16="http://schemas.microsoft.com/office/drawing/2014/main" id="{BF9D72D5-CD53-2DDC-B8DE-37ACD51A74D4}"/>
              </a:ext>
            </a:extLst>
          </p:cNvPr>
          <p:cNvSpPr/>
          <p:nvPr/>
        </p:nvSpPr>
        <p:spPr>
          <a:xfrm rot="16200000">
            <a:off x="4150016" y="3037610"/>
            <a:ext cx="683491" cy="16048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Right 23">
            <a:extLst>
              <a:ext uri="{FF2B5EF4-FFF2-40B4-BE49-F238E27FC236}">
                <a16:creationId xmlns:a16="http://schemas.microsoft.com/office/drawing/2014/main" id="{D28B593A-4BAD-D949-E020-FDBDB62989E7}"/>
              </a:ext>
            </a:extLst>
          </p:cNvPr>
          <p:cNvSpPr/>
          <p:nvPr/>
        </p:nvSpPr>
        <p:spPr>
          <a:xfrm>
            <a:off x="5273389" y="4014070"/>
            <a:ext cx="598056" cy="1726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31DA3928-6A2F-F758-89BB-89D0EC76DB1A}"/>
              </a:ext>
            </a:extLst>
          </p:cNvPr>
          <p:cNvSpPr txBox="1"/>
          <p:nvPr/>
        </p:nvSpPr>
        <p:spPr>
          <a:xfrm>
            <a:off x="4544293" y="2948574"/>
            <a:ext cx="497252" cy="338554"/>
          </a:xfrm>
          <a:prstGeom prst="rect">
            <a:avLst/>
          </a:prstGeom>
          <a:noFill/>
        </p:spPr>
        <p:txBody>
          <a:bodyPr wrap="none" rtlCol="0">
            <a:spAutoFit/>
          </a:bodyPr>
          <a:lstStyle/>
          <a:p>
            <a:r>
              <a:rPr lang="en-US" sz="1600" dirty="0"/>
              <a:t>ssh</a:t>
            </a:r>
          </a:p>
        </p:txBody>
      </p:sp>
      <p:sp>
        <p:nvSpPr>
          <p:cNvPr id="26" name="Speech Bubble: Rectangle with Corners Rounded 25">
            <a:extLst>
              <a:ext uri="{FF2B5EF4-FFF2-40B4-BE49-F238E27FC236}">
                <a16:creationId xmlns:a16="http://schemas.microsoft.com/office/drawing/2014/main" id="{7164257C-7888-81DF-A81F-733EB4B7DA2A}"/>
              </a:ext>
            </a:extLst>
          </p:cNvPr>
          <p:cNvSpPr/>
          <p:nvPr/>
        </p:nvSpPr>
        <p:spPr>
          <a:xfrm>
            <a:off x="5333085" y="1353702"/>
            <a:ext cx="1747862" cy="683491"/>
          </a:xfrm>
          <a:prstGeom prst="wedgeRoundRectCallout">
            <a:avLst>
              <a:gd name="adj1" fmla="val -63434"/>
              <a:gd name="adj2" fmla="val 49705"/>
              <a:gd name="adj3" fmla="val 16667"/>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mic Sans MS" panose="030F0702030302020204" pitchFamily="66" charset="0"/>
              </a:rPr>
              <a:t>Live VM with a vulnerability.</a:t>
            </a:r>
          </a:p>
        </p:txBody>
      </p:sp>
      <p:sp>
        <p:nvSpPr>
          <p:cNvPr id="27" name="Speech Bubble: Rectangle with Corners Rounded 26">
            <a:extLst>
              <a:ext uri="{FF2B5EF4-FFF2-40B4-BE49-F238E27FC236}">
                <a16:creationId xmlns:a16="http://schemas.microsoft.com/office/drawing/2014/main" id="{550B0F0A-EE4F-E24E-9B9D-A3BE83AFB7FB}"/>
              </a:ext>
            </a:extLst>
          </p:cNvPr>
          <p:cNvSpPr/>
          <p:nvPr/>
        </p:nvSpPr>
        <p:spPr>
          <a:xfrm>
            <a:off x="4079010" y="4970173"/>
            <a:ext cx="3565236" cy="1271154"/>
          </a:xfrm>
          <a:prstGeom prst="wedgeRoundRectCallout">
            <a:avLst>
              <a:gd name="adj1" fmla="val -34823"/>
              <a:gd name="adj2" fmla="val -87182"/>
              <a:gd name="adj3" fmla="val 16667"/>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mic Sans MS" panose="030F0702030302020204" pitchFamily="66" charset="0"/>
              </a:rPr>
              <a:t>Dev with knowledge of the:</a:t>
            </a:r>
            <a:endParaRPr lang="en-US" sz="1200" dirty="0">
              <a:solidFill>
                <a:schemeClr val="tx1"/>
              </a:solidFill>
              <a:latin typeface="Comic Sans MS" panose="030F0702030302020204" pitchFamily="66" charset="0"/>
            </a:endParaRPr>
          </a:p>
          <a:p>
            <a:pPr marL="342900" indent="-342900">
              <a:buAutoNum type="arabicPeriod"/>
            </a:pPr>
            <a:r>
              <a:rPr lang="en-US" sz="1200" dirty="0">
                <a:solidFill>
                  <a:schemeClr val="tx1"/>
                </a:solidFill>
                <a:latin typeface="Comic Sans MS" panose="030F0702030302020204" pitchFamily="66" charset="0"/>
              </a:rPr>
              <a:t>VM (OS, app directory, file structure, libraries installed, and others)</a:t>
            </a:r>
          </a:p>
          <a:p>
            <a:pPr marL="342900" indent="-342900">
              <a:buAutoNum type="arabicPeriod"/>
            </a:pPr>
            <a:r>
              <a:rPr lang="en-US" sz="1200" dirty="0">
                <a:solidFill>
                  <a:schemeClr val="tx1"/>
                </a:solidFill>
                <a:latin typeface="Comic Sans MS" panose="030F0702030302020204" pitchFamily="66" charset="0"/>
              </a:rPr>
              <a:t>Vulnerability (Vuln ID, CVE details, how to fix, previous resolution knowledge, resolution steps from internal tool)</a:t>
            </a:r>
          </a:p>
        </p:txBody>
      </p:sp>
      <p:sp>
        <p:nvSpPr>
          <p:cNvPr id="43" name="Title 1">
            <a:extLst>
              <a:ext uri="{FF2B5EF4-FFF2-40B4-BE49-F238E27FC236}">
                <a16:creationId xmlns:a16="http://schemas.microsoft.com/office/drawing/2014/main" id="{9CF6AE1F-283A-91CF-AF75-17B5C2EF6F08}"/>
              </a:ext>
            </a:extLst>
          </p:cNvPr>
          <p:cNvSpPr>
            <a:spLocks noGrp="1"/>
          </p:cNvSpPr>
          <p:nvPr>
            <p:ph type="title"/>
          </p:nvPr>
        </p:nvSpPr>
        <p:spPr>
          <a:xfrm>
            <a:off x="838200" y="365125"/>
            <a:ext cx="10515600" cy="1325563"/>
          </a:xfrm>
        </p:spPr>
        <p:txBody>
          <a:bodyPr/>
          <a:lstStyle/>
          <a:p>
            <a:r>
              <a:rPr lang="en-US" dirty="0"/>
              <a:t>Current Procedure</a:t>
            </a:r>
          </a:p>
        </p:txBody>
      </p:sp>
      <p:sp>
        <p:nvSpPr>
          <p:cNvPr id="44" name="TextBox 43">
            <a:extLst>
              <a:ext uri="{FF2B5EF4-FFF2-40B4-BE49-F238E27FC236}">
                <a16:creationId xmlns:a16="http://schemas.microsoft.com/office/drawing/2014/main" id="{36621623-F8F3-9F79-159D-46683A718DC9}"/>
              </a:ext>
            </a:extLst>
          </p:cNvPr>
          <p:cNvSpPr txBox="1"/>
          <p:nvPr/>
        </p:nvSpPr>
        <p:spPr>
          <a:xfrm>
            <a:off x="9525529" y="4517822"/>
            <a:ext cx="2538708" cy="338554"/>
          </a:xfrm>
          <a:prstGeom prst="rect">
            <a:avLst/>
          </a:prstGeom>
          <a:noFill/>
        </p:spPr>
        <p:txBody>
          <a:bodyPr wrap="none" rtlCol="0">
            <a:spAutoFit/>
          </a:bodyPr>
          <a:lstStyle/>
          <a:p>
            <a:r>
              <a:rPr lang="en-US" sz="1600" dirty="0"/>
              <a:t>- SHIRE Agentic AI solution</a:t>
            </a:r>
          </a:p>
        </p:txBody>
      </p:sp>
      <p:pic>
        <p:nvPicPr>
          <p:cNvPr id="45" name="Picture 14" descr="Vulnerability Generic color outline icon | Freepik">
            <a:extLst>
              <a:ext uri="{FF2B5EF4-FFF2-40B4-BE49-F238E27FC236}">
                <a16:creationId xmlns:a16="http://schemas.microsoft.com/office/drawing/2014/main" id="{2A12B061-815D-CA09-C87F-65672FB760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50991" y="4973643"/>
            <a:ext cx="354229" cy="354229"/>
          </a:xfrm>
          <a:prstGeom prst="rect">
            <a:avLst/>
          </a:prstGeom>
          <a:noFill/>
          <a:extLst>
            <a:ext uri="{909E8E84-426E-40DD-AFC4-6F175D3DCCD1}">
              <a14:hiddenFill xmlns:a14="http://schemas.microsoft.com/office/drawing/2010/main">
                <a:solidFill>
                  <a:srgbClr val="FFFFFF"/>
                </a:solidFill>
              </a14:hiddenFill>
            </a:ext>
          </a:extLst>
        </p:spPr>
      </p:pic>
      <p:sp>
        <p:nvSpPr>
          <p:cNvPr id="46" name="TextBox 45">
            <a:extLst>
              <a:ext uri="{FF2B5EF4-FFF2-40B4-BE49-F238E27FC236}">
                <a16:creationId xmlns:a16="http://schemas.microsoft.com/office/drawing/2014/main" id="{FE678137-C81A-5ABE-2A26-4E0D5745202F}"/>
              </a:ext>
            </a:extLst>
          </p:cNvPr>
          <p:cNvSpPr txBox="1"/>
          <p:nvPr/>
        </p:nvSpPr>
        <p:spPr>
          <a:xfrm>
            <a:off x="9534765" y="4965199"/>
            <a:ext cx="1398588" cy="338554"/>
          </a:xfrm>
          <a:prstGeom prst="rect">
            <a:avLst/>
          </a:prstGeom>
          <a:noFill/>
        </p:spPr>
        <p:txBody>
          <a:bodyPr wrap="none" rtlCol="0">
            <a:spAutoFit/>
          </a:bodyPr>
          <a:lstStyle/>
          <a:p>
            <a:r>
              <a:rPr lang="en-US" sz="1600" dirty="0"/>
              <a:t>- Vulnerability</a:t>
            </a:r>
          </a:p>
        </p:txBody>
      </p:sp>
      <p:grpSp>
        <p:nvGrpSpPr>
          <p:cNvPr id="47" name="Group 46">
            <a:extLst>
              <a:ext uri="{FF2B5EF4-FFF2-40B4-BE49-F238E27FC236}">
                <a16:creationId xmlns:a16="http://schemas.microsoft.com/office/drawing/2014/main" id="{6C881A90-0D5A-D3C6-8FED-A4AF74428F0E}"/>
              </a:ext>
            </a:extLst>
          </p:cNvPr>
          <p:cNvGrpSpPr/>
          <p:nvPr/>
        </p:nvGrpSpPr>
        <p:grpSpPr>
          <a:xfrm>
            <a:off x="9008509" y="5354653"/>
            <a:ext cx="465283" cy="384463"/>
            <a:chOff x="1939637" y="2290618"/>
            <a:chExt cx="930566" cy="768926"/>
          </a:xfrm>
        </p:grpSpPr>
        <p:pic>
          <p:nvPicPr>
            <p:cNvPr id="48" name="Picture 6" descr="Virtual physical host CPS Vector Icons free download in SVG, PNG Format">
              <a:extLst>
                <a:ext uri="{FF2B5EF4-FFF2-40B4-BE49-F238E27FC236}">
                  <a16:creationId xmlns:a16="http://schemas.microsoft.com/office/drawing/2014/main" id="{BAA480EB-70C4-19DF-F0DD-4E2135E9C0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39637" y="2376053"/>
              <a:ext cx="683491" cy="683491"/>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8" descr="Vulnerability Generic color outline icon | Freepik">
              <a:extLst>
                <a:ext uri="{FF2B5EF4-FFF2-40B4-BE49-F238E27FC236}">
                  <a16:creationId xmlns:a16="http://schemas.microsoft.com/office/drawing/2014/main" id="{2DA636A3-234A-0BEA-8CF9-541401ACD91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72147" y="2290618"/>
              <a:ext cx="598056" cy="598056"/>
            </a:xfrm>
            <a:prstGeom prst="rect">
              <a:avLst/>
            </a:prstGeom>
            <a:noFill/>
            <a:extLst>
              <a:ext uri="{909E8E84-426E-40DD-AFC4-6F175D3DCCD1}">
                <a14:hiddenFill xmlns:a14="http://schemas.microsoft.com/office/drawing/2010/main">
                  <a:solidFill>
                    <a:srgbClr val="FFFFFF"/>
                  </a:solidFill>
                </a14:hiddenFill>
              </a:ext>
            </a:extLst>
          </p:spPr>
        </p:pic>
      </p:grpSp>
      <p:sp>
        <p:nvSpPr>
          <p:cNvPr id="50" name="TextBox 49">
            <a:extLst>
              <a:ext uri="{FF2B5EF4-FFF2-40B4-BE49-F238E27FC236}">
                <a16:creationId xmlns:a16="http://schemas.microsoft.com/office/drawing/2014/main" id="{E7C7EA20-8846-6F25-B9EB-B870BFF54BCC}"/>
              </a:ext>
            </a:extLst>
          </p:cNvPr>
          <p:cNvSpPr txBox="1"/>
          <p:nvPr/>
        </p:nvSpPr>
        <p:spPr>
          <a:xfrm>
            <a:off x="9529215" y="5382223"/>
            <a:ext cx="1806520" cy="338554"/>
          </a:xfrm>
          <a:prstGeom prst="rect">
            <a:avLst/>
          </a:prstGeom>
          <a:noFill/>
        </p:spPr>
        <p:txBody>
          <a:bodyPr wrap="none" rtlCol="0">
            <a:spAutoFit/>
          </a:bodyPr>
          <a:lstStyle/>
          <a:p>
            <a:r>
              <a:rPr lang="en-US" sz="1600" dirty="0"/>
              <a:t>- Live VM with vuln</a:t>
            </a:r>
          </a:p>
        </p:txBody>
      </p:sp>
      <p:pic>
        <p:nvPicPr>
          <p:cNvPr id="51" name="Picture 12" descr="Dashboard Tableau Software Data visualization Infographic Information,  infographic, text png | PNGEgg">
            <a:extLst>
              <a:ext uri="{FF2B5EF4-FFF2-40B4-BE49-F238E27FC236}">
                <a16:creationId xmlns:a16="http://schemas.microsoft.com/office/drawing/2014/main" id="{3D2E8E87-EF41-7615-8879-53BFEDF79D5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6721" t="17212" r="26296" b="18632"/>
          <a:stretch>
            <a:fillRect/>
          </a:stretch>
        </p:blipFill>
        <p:spPr bwMode="auto">
          <a:xfrm>
            <a:off x="9014047" y="5807613"/>
            <a:ext cx="491372" cy="381717"/>
          </a:xfrm>
          <a:prstGeom prst="rect">
            <a:avLst/>
          </a:prstGeom>
          <a:noFill/>
          <a:extLst>
            <a:ext uri="{909E8E84-426E-40DD-AFC4-6F175D3DCCD1}">
              <a14:hiddenFill xmlns:a14="http://schemas.microsoft.com/office/drawing/2010/main">
                <a:solidFill>
                  <a:srgbClr val="FFFFFF"/>
                </a:solidFill>
              </a14:hiddenFill>
            </a:ext>
          </a:extLst>
        </p:spPr>
      </p:pic>
      <p:sp>
        <p:nvSpPr>
          <p:cNvPr id="52" name="TextBox 51">
            <a:extLst>
              <a:ext uri="{FF2B5EF4-FFF2-40B4-BE49-F238E27FC236}">
                <a16:creationId xmlns:a16="http://schemas.microsoft.com/office/drawing/2014/main" id="{01F0A41B-529B-05D7-ABC1-09717FE8740B}"/>
              </a:ext>
            </a:extLst>
          </p:cNvPr>
          <p:cNvSpPr txBox="1"/>
          <p:nvPr/>
        </p:nvSpPr>
        <p:spPr>
          <a:xfrm>
            <a:off x="9534765" y="5826085"/>
            <a:ext cx="1987404" cy="338554"/>
          </a:xfrm>
          <a:prstGeom prst="rect">
            <a:avLst/>
          </a:prstGeom>
          <a:noFill/>
        </p:spPr>
        <p:txBody>
          <a:bodyPr wrap="none" rtlCol="0">
            <a:spAutoFit/>
          </a:bodyPr>
          <a:lstStyle/>
          <a:p>
            <a:r>
              <a:rPr lang="en-US" sz="1600" dirty="0"/>
              <a:t>- Tableau dashboard</a:t>
            </a:r>
          </a:p>
        </p:txBody>
      </p:sp>
      <p:pic>
        <p:nvPicPr>
          <p:cNvPr id="53" name="Picture 4" descr="Developer - Free computer icons">
            <a:extLst>
              <a:ext uri="{FF2B5EF4-FFF2-40B4-BE49-F238E27FC236}">
                <a16:creationId xmlns:a16="http://schemas.microsoft.com/office/drawing/2014/main" id="{22198BE6-138F-5CE4-AADD-55E52025B1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71335" y="6252979"/>
            <a:ext cx="435490" cy="435490"/>
          </a:xfrm>
          <a:prstGeom prst="rect">
            <a:avLst/>
          </a:prstGeom>
          <a:noFill/>
          <a:extLst>
            <a:ext uri="{909E8E84-426E-40DD-AFC4-6F175D3DCCD1}">
              <a14:hiddenFill xmlns:a14="http://schemas.microsoft.com/office/drawing/2010/main">
                <a:solidFill>
                  <a:srgbClr val="FFFFFF"/>
                </a:solidFill>
              </a14:hiddenFill>
            </a:ext>
          </a:extLst>
        </p:spPr>
      </p:pic>
      <p:sp>
        <p:nvSpPr>
          <p:cNvPr id="54" name="TextBox 53">
            <a:extLst>
              <a:ext uri="{FF2B5EF4-FFF2-40B4-BE49-F238E27FC236}">
                <a16:creationId xmlns:a16="http://schemas.microsoft.com/office/drawing/2014/main" id="{6969EBD5-21A4-108E-53B2-226A67D63C69}"/>
              </a:ext>
            </a:extLst>
          </p:cNvPr>
          <p:cNvSpPr txBox="1"/>
          <p:nvPr/>
        </p:nvSpPr>
        <p:spPr>
          <a:xfrm>
            <a:off x="9544001" y="6305951"/>
            <a:ext cx="1201996" cy="338554"/>
          </a:xfrm>
          <a:prstGeom prst="rect">
            <a:avLst/>
          </a:prstGeom>
          <a:noFill/>
        </p:spPr>
        <p:txBody>
          <a:bodyPr wrap="none" rtlCol="0">
            <a:spAutoFit/>
          </a:bodyPr>
          <a:lstStyle/>
          <a:p>
            <a:r>
              <a:rPr lang="en-US" sz="1600" dirty="0"/>
              <a:t>- Developer</a:t>
            </a:r>
          </a:p>
        </p:txBody>
      </p:sp>
      <p:pic>
        <p:nvPicPr>
          <p:cNvPr id="55" name="Picture 2" descr="🤖 AI Agents vs Agentic AI: The Mind-Blowing Difference That Will Change  Everything | by MahendraMedapati | Towards AI">
            <a:extLst>
              <a:ext uri="{FF2B5EF4-FFF2-40B4-BE49-F238E27FC236}">
                <a16:creationId xmlns:a16="http://schemas.microsoft.com/office/drawing/2014/main" id="{545FE6E0-E495-522E-7D46-511667385210}"/>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52594" t="5052" r="2724" b="24200"/>
          <a:stretch>
            <a:fillRect/>
          </a:stretch>
        </p:blipFill>
        <p:spPr bwMode="auto">
          <a:xfrm>
            <a:off x="9020207" y="4483958"/>
            <a:ext cx="385013" cy="406282"/>
          </a:xfrm>
          <a:prstGeom prst="rect">
            <a:avLst/>
          </a:prstGeom>
          <a:noFill/>
          <a:extLst>
            <a:ext uri="{909E8E84-426E-40DD-AFC4-6F175D3DCCD1}">
              <a14:hiddenFill xmlns:a14="http://schemas.microsoft.com/office/drawing/2010/main">
                <a:solidFill>
                  <a:srgbClr val="FFFFFF"/>
                </a:solidFill>
              </a14:hiddenFill>
            </a:ext>
          </a:extLst>
        </p:spPr>
      </p:pic>
      <p:grpSp>
        <p:nvGrpSpPr>
          <p:cNvPr id="56" name="Group 55">
            <a:extLst>
              <a:ext uri="{FF2B5EF4-FFF2-40B4-BE49-F238E27FC236}">
                <a16:creationId xmlns:a16="http://schemas.microsoft.com/office/drawing/2014/main" id="{F1A29A4F-5B60-8006-F52C-CCAF38AEC584}"/>
              </a:ext>
            </a:extLst>
          </p:cNvPr>
          <p:cNvGrpSpPr/>
          <p:nvPr/>
        </p:nvGrpSpPr>
        <p:grpSpPr>
          <a:xfrm>
            <a:off x="9050991" y="3981233"/>
            <a:ext cx="2679398" cy="338554"/>
            <a:chOff x="9487588" y="5063413"/>
            <a:chExt cx="2679398" cy="338554"/>
          </a:xfrm>
        </p:grpSpPr>
        <p:sp>
          <p:nvSpPr>
            <p:cNvPr id="57" name="Rectangle 56">
              <a:extLst>
                <a:ext uri="{FF2B5EF4-FFF2-40B4-BE49-F238E27FC236}">
                  <a16:creationId xmlns:a16="http://schemas.microsoft.com/office/drawing/2014/main" id="{743B5146-AF9B-BF2C-54FD-F32723E29096}"/>
                </a:ext>
              </a:extLst>
            </p:cNvPr>
            <p:cNvSpPr/>
            <p:nvPr/>
          </p:nvSpPr>
          <p:spPr>
            <a:xfrm>
              <a:off x="9487588" y="5101935"/>
              <a:ext cx="491371" cy="27998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DEDAB7E5-15C3-9276-7784-607390177DDE}"/>
                </a:ext>
              </a:extLst>
            </p:cNvPr>
            <p:cNvSpPr txBox="1"/>
            <p:nvPr/>
          </p:nvSpPr>
          <p:spPr>
            <a:xfrm>
              <a:off x="10030696" y="5063413"/>
              <a:ext cx="2136290" cy="338554"/>
            </a:xfrm>
            <a:prstGeom prst="rect">
              <a:avLst/>
            </a:prstGeom>
            <a:noFill/>
          </p:spPr>
          <p:txBody>
            <a:bodyPr wrap="none" rtlCol="0">
              <a:spAutoFit/>
            </a:bodyPr>
            <a:lstStyle/>
            <a:p>
              <a:r>
                <a:rPr lang="en-US" sz="1600" dirty="0"/>
                <a:t>- Missing components</a:t>
              </a:r>
            </a:p>
          </p:txBody>
        </p:sp>
      </p:grpSp>
    </p:spTree>
    <p:extLst>
      <p:ext uri="{BB962C8B-B14F-4D97-AF65-F5344CB8AC3E}">
        <p14:creationId xmlns:p14="http://schemas.microsoft.com/office/powerpoint/2010/main" val="35055543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ED61A-DDBA-FAAC-6A05-56811AA60900}"/>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C1D632F9-9504-3F7C-AA56-59AE8359F7A5}"/>
              </a:ext>
            </a:extLst>
          </p:cNvPr>
          <p:cNvGrpSpPr/>
          <p:nvPr/>
        </p:nvGrpSpPr>
        <p:grpSpPr>
          <a:xfrm>
            <a:off x="4168746" y="1899229"/>
            <a:ext cx="930566" cy="768926"/>
            <a:chOff x="1939637" y="2290618"/>
            <a:chExt cx="930566" cy="768926"/>
          </a:xfrm>
        </p:grpSpPr>
        <p:pic>
          <p:nvPicPr>
            <p:cNvPr id="1030" name="Picture 6" descr="Virtual physical host CPS Vector Icons free download in SVG, PNG Format">
              <a:extLst>
                <a:ext uri="{FF2B5EF4-FFF2-40B4-BE49-F238E27FC236}">
                  <a16:creationId xmlns:a16="http://schemas.microsoft.com/office/drawing/2014/main" id="{35BCF4B7-E34F-6F0B-65BF-932C360E2F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9637" y="2376053"/>
              <a:ext cx="683491" cy="683491"/>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Vulnerability Generic color outline icon | Freepik">
              <a:extLst>
                <a:ext uri="{FF2B5EF4-FFF2-40B4-BE49-F238E27FC236}">
                  <a16:creationId xmlns:a16="http://schemas.microsoft.com/office/drawing/2014/main" id="{160545AC-6967-6B99-03B6-A46C7AF927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2147" y="2290618"/>
              <a:ext cx="598056" cy="598056"/>
            </a:xfrm>
            <a:prstGeom prst="rect">
              <a:avLst/>
            </a:prstGeom>
            <a:noFill/>
            <a:extLst>
              <a:ext uri="{909E8E84-426E-40DD-AFC4-6F175D3DCCD1}">
                <a14:hiddenFill xmlns:a14="http://schemas.microsoft.com/office/drawing/2010/main">
                  <a:solidFill>
                    <a:srgbClr val="FFFFFF"/>
                  </a:solidFill>
                </a14:hiddenFill>
              </a:ext>
            </a:extLst>
          </p:spPr>
        </p:pic>
      </p:grpSp>
      <p:pic>
        <p:nvPicPr>
          <p:cNvPr id="2" name="Picture 6" descr="Virtual physical host CPS Vector Icons free download in SVG, PNG Format">
            <a:extLst>
              <a:ext uri="{FF2B5EF4-FFF2-40B4-BE49-F238E27FC236}">
                <a16:creationId xmlns:a16="http://schemas.microsoft.com/office/drawing/2014/main" id="{020B9A97-C94A-90D3-6300-4652BE0916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82257" y="3719376"/>
            <a:ext cx="683491" cy="683491"/>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Dashboard Tableau Software Data visualization Infographic Information,  infographic, text png | PNGEgg">
            <a:extLst>
              <a:ext uri="{FF2B5EF4-FFF2-40B4-BE49-F238E27FC236}">
                <a16:creationId xmlns:a16="http://schemas.microsoft.com/office/drawing/2014/main" id="{27C584F9-69BA-C372-51EB-DF407D3DD2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6721" t="17212" r="26296" b="18632"/>
          <a:stretch>
            <a:fillRect/>
          </a:stretch>
        </p:blipFill>
        <p:spPr bwMode="auto">
          <a:xfrm>
            <a:off x="461611" y="3811157"/>
            <a:ext cx="769859" cy="598056"/>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53F7D752-DC08-5674-B58E-58E206462444}"/>
              </a:ext>
            </a:extLst>
          </p:cNvPr>
          <p:cNvGrpSpPr/>
          <p:nvPr/>
        </p:nvGrpSpPr>
        <p:grpSpPr>
          <a:xfrm>
            <a:off x="2302777" y="2572327"/>
            <a:ext cx="616751" cy="3118432"/>
            <a:chOff x="2462423" y="2036041"/>
            <a:chExt cx="616751" cy="3118432"/>
          </a:xfrm>
        </p:grpSpPr>
        <p:pic>
          <p:nvPicPr>
            <p:cNvPr id="1038" name="Picture 14" descr="Vulnerability Generic color outline icon | Freepik">
              <a:extLst>
                <a:ext uri="{FF2B5EF4-FFF2-40B4-BE49-F238E27FC236}">
                  <a16:creationId xmlns:a16="http://schemas.microsoft.com/office/drawing/2014/main" id="{B8D02794-1245-9977-5DC4-45286453AA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2423" y="3274871"/>
              <a:ext cx="598056" cy="59805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descr="Vulnerability Generic color outline icon | Freepik">
              <a:extLst>
                <a:ext uri="{FF2B5EF4-FFF2-40B4-BE49-F238E27FC236}">
                  <a16:creationId xmlns:a16="http://schemas.microsoft.com/office/drawing/2014/main" id="{BCE4688C-4F32-3259-27CF-6147A648D664}"/>
                </a:ext>
              </a:extLst>
            </p:cNvPr>
            <p:cNvPicPr>
              <a:picLocks noChangeAspect="1" noChangeArrowheads="1"/>
            </p:cNvPicPr>
            <p:nvPr/>
          </p:nvPicPr>
          <p:blipFill>
            <a:blip r:embed="rId3">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481118" y="2634097"/>
              <a:ext cx="598056" cy="598056"/>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4" descr="Vulnerability Generic color outline icon | Freepik">
              <a:extLst>
                <a:ext uri="{FF2B5EF4-FFF2-40B4-BE49-F238E27FC236}">
                  <a16:creationId xmlns:a16="http://schemas.microsoft.com/office/drawing/2014/main" id="{E2ED0CC7-8AA4-696A-91FA-B6A4F8197F0B}"/>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2462423" y="2036041"/>
              <a:ext cx="598056" cy="59805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4" descr="Vulnerability Generic color outline icon | Freepik">
              <a:extLst>
                <a:ext uri="{FF2B5EF4-FFF2-40B4-BE49-F238E27FC236}">
                  <a16:creationId xmlns:a16="http://schemas.microsoft.com/office/drawing/2014/main" id="{2339552F-B344-7BDC-8B2D-BB6786EC29E9}"/>
                </a:ext>
              </a:extLst>
            </p:cNvPr>
            <p:cNvPicPr>
              <a:picLocks noChangeAspect="1" noChangeArrowheads="1"/>
            </p:cNvPicPr>
            <p:nvPr/>
          </p:nvPicPr>
          <p:blipFill>
            <a:blip r:embed="rId3">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462423" y="3915644"/>
              <a:ext cx="598056" cy="59805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14" descr="Vulnerability Generic color outline icon | Freepik">
              <a:extLst>
                <a:ext uri="{FF2B5EF4-FFF2-40B4-BE49-F238E27FC236}">
                  <a16:creationId xmlns:a16="http://schemas.microsoft.com/office/drawing/2014/main" id="{B55EA4FA-6D4A-089A-2FDC-1374FF0EB949}"/>
                </a:ext>
              </a:extLst>
            </p:cNvPr>
            <p:cNvPicPr>
              <a:picLocks noChangeAspect="1" noChangeArrowheads="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462423" y="4556417"/>
              <a:ext cx="598056" cy="598056"/>
            </a:xfrm>
            <a:prstGeom prst="rect">
              <a:avLst/>
            </a:prstGeom>
            <a:noFill/>
            <a:extLst>
              <a:ext uri="{909E8E84-426E-40DD-AFC4-6F175D3DCCD1}">
                <a14:hiddenFill xmlns:a14="http://schemas.microsoft.com/office/drawing/2010/main">
                  <a:solidFill>
                    <a:srgbClr val="FFFFFF"/>
                  </a:solidFill>
                </a14:hiddenFill>
              </a:ext>
            </a:extLst>
          </p:spPr>
        </p:pic>
      </p:grpSp>
      <p:sp>
        <p:nvSpPr>
          <p:cNvPr id="21" name="Arrow: Right 20">
            <a:extLst>
              <a:ext uri="{FF2B5EF4-FFF2-40B4-BE49-F238E27FC236}">
                <a16:creationId xmlns:a16="http://schemas.microsoft.com/office/drawing/2014/main" id="{2DCD23F5-8DFA-9CFC-724B-7BFD06488A13}"/>
              </a:ext>
            </a:extLst>
          </p:cNvPr>
          <p:cNvSpPr/>
          <p:nvPr/>
        </p:nvSpPr>
        <p:spPr>
          <a:xfrm>
            <a:off x="1452565" y="4005123"/>
            <a:ext cx="598056" cy="1726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C13EADEC-D6A8-E528-634F-AEA1F9C0E427}"/>
              </a:ext>
            </a:extLst>
          </p:cNvPr>
          <p:cNvSpPr/>
          <p:nvPr/>
        </p:nvSpPr>
        <p:spPr>
          <a:xfrm>
            <a:off x="3306878" y="4005122"/>
            <a:ext cx="598056" cy="1726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Arrow: Left-Right 22">
            <a:extLst>
              <a:ext uri="{FF2B5EF4-FFF2-40B4-BE49-F238E27FC236}">
                <a16:creationId xmlns:a16="http://schemas.microsoft.com/office/drawing/2014/main" id="{0C293613-7F95-78F8-4320-46B9377A0D3C}"/>
              </a:ext>
            </a:extLst>
          </p:cNvPr>
          <p:cNvSpPr/>
          <p:nvPr/>
        </p:nvSpPr>
        <p:spPr>
          <a:xfrm rot="16200000">
            <a:off x="4239752" y="3047424"/>
            <a:ext cx="683491" cy="16048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Right 23">
            <a:extLst>
              <a:ext uri="{FF2B5EF4-FFF2-40B4-BE49-F238E27FC236}">
                <a16:creationId xmlns:a16="http://schemas.microsoft.com/office/drawing/2014/main" id="{D315D3B0-5EA5-2D9A-C812-E25DD57CEA4E}"/>
              </a:ext>
            </a:extLst>
          </p:cNvPr>
          <p:cNvSpPr/>
          <p:nvPr/>
        </p:nvSpPr>
        <p:spPr>
          <a:xfrm>
            <a:off x="5363125" y="4023884"/>
            <a:ext cx="598056" cy="1726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5C5B8536-43FB-6841-0B2B-1C25829DB8FD}"/>
              </a:ext>
            </a:extLst>
          </p:cNvPr>
          <p:cNvSpPr txBox="1"/>
          <p:nvPr/>
        </p:nvSpPr>
        <p:spPr>
          <a:xfrm>
            <a:off x="4634029" y="2958388"/>
            <a:ext cx="497252" cy="338554"/>
          </a:xfrm>
          <a:prstGeom prst="rect">
            <a:avLst/>
          </a:prstGeom>
          <a:noFill/>
        </p:spPr>
        <p:txBody>
          <a:bodyPr wrap="none" rtlCol="0">
            <a:spAutoFit/>
          </a:bodyPr>
          <a:lstStyle/>
          <a:p>
            <a:r>
              <a:rPr lang="en-US" sz="1600" dirty="0"/>
              <a:t>ssh</a:t>
            </a:r>
          </a:p>
        </p:txBody>
      </p:sp>
      <p:sp>
        <p:nvSpPr>
          <p:cNvPr id="26" name="Speech Bubble: Rectangle with Corners Rounded 25">
            <a:extLst>
              <a:ext uri="{FF2B5EF4-FFF2-40B4-BE49-F238E27FC236}">
                <a16:creationId xmlns:a16="http://schemas.microsoft.com/office/drawing/2014/main" id="{61E4E3CE-F36E-FD34-889E-8EDD2B0EC5D6}"/>
              </a:ext>
            </a:extLst>
          </p:cNvPr>
          <p:cNvSpPr/>
          <p:nvPr/>
        </p:nvSpPr>
        <p:spPr>
          <a:xfrm>
            <a:off x="5422821" y="1363517"/>
            <a:ext cx="1542927" cy="598056"/>
          </a:xfrm>
          <a:prstGeom prst="wedgeRoundRectCallout">
            <a:avLst>
              <a:gd name="adj1" fmla="val -63434"/>
              <a:gd name="adj2" fmla="val 49705"/>
              <a:gd name="adj3" fmla="val 16667"/>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mic Sans MS" panose="030F0702030302020204" pitchFamily="66" charset="0"/>
              </a:rPr>
              <a:t>Live VM with a vulnerability.</a:t>
            </a:r>
          </a:p>
        </p:txBody>
      </p:sp>
      <p:sp>
        <p:nvSpPr>
          <p:cNvPr id="31" name="TextBox 30">
            <a:extLst>
              <a:ext uri="{FF2B5EF4-FFF2-40B4-BE49-F238E27FC236}">
                <a16:creationId xmlns:a16="http://schemas.microsoft.com/office/drawing/2014/main" id="{411E18EE-878B-1649-0A62-7FAF3C057003}"/>
              </a:ext>
            </a:extLst>
          </p:cNvPr>
          <p:cNvSpPr txBox="1"/>
          <p:nvPr/>
        </p:nvSpPr>
        <p:spPr>
          <a:xfrm>
            <a:off x="9525529" y="4517822"/>
            <a:ext cx="2538708" cy="338554"/>
          </a:xfrm>
          <a:prstGeom prst="rect">
            <a:avLst/>
          </a:prstGeom>
          <a:noFill/>
        </p:spPr>
        <p:txBody>
          <a:bodyPr wrap="none" rtlCol="0">
            <a:spAutoFit/>
          </a:bodyPr>
          <a:lstStyle/>
          <a:p>
            <a:r>
              <a:rPr lang="en-US" sz="1600" dirty="0"/>
              <a:t>- SHIRE Agentic AI solution</a:t>
            </a:r>
          </a:p>
        </p:txBody>
      </p:sp>
      <p:pic>
        <p:nvPicPr>
          <p:cNvPr id="33" name="Picture 14" descr="Vulnerability Generic color outline icon | Freepik">
            <a:extLst>
              <a:ext uri="{FF2B5EF4-FFF2-40B4-BE49-F238E27FC236}">
                <a16:creationId xmlns:a16="http://schemas.microsoft.com/office/drawing/2014/main" id="{0D06B2CB-5B0F-5B79-6F6E-43ED3A6F31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50991" y="4973643"/>
            <a:ext cx="354229" cy="354229"/>
          </a:xfrm>
          <a:prstGeom prst="rect">
            <a:avLst/>
          </a:prstGeom>
          <a:noFill/>
          <a:extLst>
            <a:ext uri="{909E8E84-426E-40DD-AFC4-6F175D3DCCD1}">
              <a14:hiddenFill xmlns:a14="http://schemas.microsoft.com/office/drawing/2010/main">
                <a:solidFill>
                  <a:srgbClr val="FFFFFF"/>
                </a:solidFill>
              </a14:hiddenFill>
            </a:ext>
          </a:extLst>
        </p:spPr>
      </p:pic>
      <p:sp>
        <p:nvSpPr>
          <p:cNvPr id="34" name="TextBox 33">
            <a:extLst>
              <a:ext uri="{FF2B5EF4-FFF2-40B4-BE49-F238E27FC236}">
                <a16:creationId xmlns:a16="http://schemas.microsoft.com/office/drawing/2014/main" id="{ECCCA203-6E0E-21F4-908D-86429B842E33}"/>
              </a:ext>
            </a:extLst>
          </p:cNvPr>
          <p:cNvSpPr txBox="1"/>
          <p:nvPr/>
        </p:nvSpPr>
        <p:spPr>
          <a:xfrm>
            <a:off x="9534765" y="4965199"/>
            <a:ext cx="1398588" cy="338554"/>
          </a:xfrm>
          <a:prstGeom prst="rect">
            <a:avLst/>
          </a:prstGeom>
          <a:noFill/>
        </p:spPr>
        <p:txBody>
          <a:bodyPr wrap="none" rtlCol="0">
            <a:spAutoFit/>
          </a:bodyPr>
          <a:lstStyle/>
          <a:p>
            <a:r>
              <a:rPr lang="en-US" sz="1600" dirty="0"/>
              <a:t>- Vulnerability</a:t>
            </a:r>
          </a:p>
        </p:txBody>
      </p:sp>
      <p:grpSp>
        <p:nvGrpSpPr>
          <p:cNvPr id="35" name="Group 34">
            <a:extLst>
              <a:ext uri="{FF2B5EF4-FFF2-40B4-BE49-F238E27FC236}">
                <a16:creationId xmlns:a16="http://schemas.microsoft.com/office/drawing/2014/main" id="{622D8C62-D674-705B-8E9A-DB6D0727BEEF}"/>
              </a:ext>
            </a:extLst>
          </p:cNvPr>
          <p:cNvGrpSpPr/>
          <p:nvPr/>
        </p:nvGrpSpPr>
        <p:grpSpPr>
          <a:xfrm>
            <a:off x="9008509" y="5354653"/>
            <a:ext cx="465283" cy="384463"/>
            <a:chOff x="1939637" y="2290618"/>
            <a:chExt cx="930566" cy="768926"/>
          </a:xfrm>
        </p:grpSpPr>
        <p:pic>
          <p:nvPicPr>
            <p:cNvPr id="36" name="Picture 6" descr="Virtual physical host CPS Vector Icons free download in SVG, PNG Format">
              <a:extLst>
                <a:ext uri="{FF2B5EF4-FFF2-40B4-BE49-F238E27FC236}">
                  <a16:creationId xmlns:a16="http://schemas.microsoft.com/office/drawing/2014/main" id="{6616B9CC-8F6C-89EF-AAC9-9EBA35F567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9637" y="2376053"/>
              <a:ext cx="683491" cy="683491"/>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8" descr="Vulnerability Generic color outline icon | Freepik">
              <a:extLst>
                <a:ext uri="{FF2B5EF4-FFF2-40B4-BE49-F238E27FC236}">
                  <a16:creationId xmlns:a16="http://schemas.microsoft.com/office/drawing/2014/main" id="{33C1E690-87D9-E20B-7B8F-A6756F0C1C9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2147" y="2290618"/>
              <a:ext cx="598056" cy="598056"/>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TextBox 37">
            <a:extLst>
              <a:ext uri="{FF2B5EF4-FFF2-40B4-BE49-F238E27FC236}">
                <a16:creationId xmlns:a16="http://schemas.microsoft.com/office/drawing/2014/main" id="{7534E936-D6DF-3B58-C665-828A8B36AAB6}"/>
              </a:ext>
            </a:extLst>
          </p:cNvPr>
          <p:cNvSpPr txBox="1"/>
          <p:nvPr/>
        </p:nvSpPr>
        <p:spPr>
          <a:xfrm>
            <a:off x="9529215" y="5382223"/>
            <a:ext cx="1806520" cy="338554"/>
          </a:xfrm>
          <a:prstGeom prst="rect">
            <a:avLst/>
          </a:prstGeom>
          <a:noFill/>
        </p:spPr>
        <p:txBody>
          <a:bodyPr wrap="none" rtlCol="0">
            <a:spAutoFit/>
          </a:bodyPr>
          <a:lstStyle/>
          <a:p>
            <a:r>
              <a:rPr lang="en-US" sz="1600" dirty="0"/>
              <a:t>- Live VM with vuln</a:t>
            </a:r>
          </a:p>
        </p:txBody>
      </p:sp>
      <p:pic>
        <p:nvPicPr>
          <p:cNvPr id="39" name="Picture 12" descr="Dashboard Tableau Software Data visualization Infographic Information,  infographic, text png | PNGEgg">
            <a:extLst>
              <a:ext uri="{FF2B5EF4-FFF2-40B4-BE49-F238E27FC236}">
                <a16:creationId xmlns:a16="http://schemas.microsoft.com/office/drawing/2014/main" id="{E26C683C-D90F-89A3-1137-160CE32174A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6721" t="17212" r="26296" b="18632"/>
          <a:stretch>
            <a:fillRect/>
          </a:stretch>
        </p:blipFill>
        <p:spPr bwMode="auto">
          <a:xfrm>
            <a:off x="9014047" y="5807613"/>
            <a:ext cx="491372" cy="381717"/>
          </a:xfrm>
          <a:prstGeom prst="rect">
            <a:avLst/>
          </a:prstGeom>
          <a:noFill/>
          <a:extLst>
            <a:ext uri="{909E8E84-426E-40DD-AFC4-6F175D3DCCD1}">
              <a14:hiddenFill xmlns:a14="http://schemas.microsoft.com/office/drawing/2010/main">
                <a:solidFill>
                  <a:srgbClr val="FFFFFF"/>
                </a:solidFill>
              </a14:hiddenFill>
            </a:ext>
          </a:extLst>
        </p:spPr>
      </p:pic>
      <p:sp>
        <p:nvSpPr>
          <p:cNvPr id="40" name="TextBox 39">
            <a:extLst>
              <a:ext uri="{FF2B5EF4-FFF2-40B4-BE49-F238E27FC236}">
                <a16:creationId xmlns:a16="http://schemas.microsoft.com/office/drawing/2014/main" id="{750D8238-4EEB-5A77-952A-F03D4F24B1C8}"/>
              </a:ext>
            </a:extLst>
          </p:cNvPr>
          <p:cNvSpPr txBox="1"/>
          <p:nvPr/>
        </p:nvSpPr>
        <p:spPr>
          <a:xfrm>
            <a:off x="9534765" y="5826085"/>
            <a:ext cx="1987404" cy="338554"/>
          </a:xfrm>
          <a:prstGeom prst="rect">
            <a:avLst/>
          </a:prstGeom>
          <a:noFill/>
        </p:spPr>
        <p:txBody>
          <a:bodyPr wrap="none" rtlCol="0">
            <a:spAutoFit/>
          </a:bodyPr>
          <a:lstStyle/>
          <a:p>
            <a:r>
              <a:rPr lang="en-US" sz="1600" dirty="0"/>
              <a:t>- Tableau dashboard</a:t>
            </a:r>
          </a:p>
        </p:txBody>
      </p:sp>
      <p:pic>
        <p:nvPicPr>
          <p:cNvPr id="41" name="Picture 4" descr="Developer - Free computer icons">
            <a:extLst>
              <a:ext uri="{FF2B5EF4-FFF2-40B4-BE49-F238E27FC236}">
                <a16:creationId xmlns:a16="http://schemas.microsoft.com/office/drawing/2014/main" id="{187B260D-61E3-62AA-64BF-D91DA3BA5D4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71335" y="6252979"/>
            <a:ext cx="435490" cy="435490"/>
          </a:xfrm>
          <a:prstGeom prst="rect">
            <a:avLst/>
          </a:prstGeom>
          <a:noFill/>
          <a:extLst>
            <a:ext uri="{909E8E84-426E-40DD-AFC4-6F175D3DCCD1}">
              <a14:hiddenFill xmlns:a14="http://schemas.microsoft.com/office/drawing/2010/main">
                <a:solidFill>
                  <a:srgbClr val="FFFFFF"/>
                </a:solidFill>
              </a14:hiddenFill>
            </a:ext>
          </a:extLst>
        </p:spPr>
      </p:pic>
      <p:sp>
        <p:nvSpPr>
          <p:cNvPr id="42" name="TextBox 41">
            <a:extLst>
              <a:ext uri="{FF2B5EF4-FFF2-40B4-BE49-F238E27FC236}">
                <a16:creationId xmlns:a16="http://schemas.microsoft.com/office/drawing/2014/main" id="{66E55F3F-2B17-14A9-BC44-30639D711113}"/>
              </a:ext>
            </a:extLst>
          </p:cNvPr>
          <p:cNvSpPr txBox="1"/>
          <p:nvPr/>
        </p:nvSpPr>
        <p:spPr>
          <a:xfrm>
            <a:off x="9544001" y="6305951"/>
            <a:ext cx="1201996" cy="338554"/>
          </a:xfrm>
          <a:prstGeom prst="rect">
            <a:avLst/>
          </a:prstGeom>
          <a:noFill/>
        </p:spPr>
        <p:txBody>
          <a:bodyPr wrap="none" rtlCol="0">
            <a:spAutoFit/>
          </a:bodyPr>
          <a:lstStyle/>
          <a:p>
            <a:r>
              <a:rPr lang="en-US" sz="1600" dirty="0"/>
              <a:t>- Developer</a:t>
            </a:r>
          </a:p>
        </p:txBody>
      </p:sp>
      <p:sp>
        <p:nvSpPr>
          <p:cNvPr id="43" name="Title 1">
            <a:extLst>
              <a:ext uri="{FF2B5EF4-FFF2-40B4-BE49-F238E27FC236}">
                <a16:creationId xmlns:a16="http://schemas.microsoft.com/office/drawing/2014/main" id="{F8B065FF-37B6-26EE-4D32-49E2FBE3DF87}"/>
              </a:ext>
            </a:extLst>
          </p:cNvPr>
          <p:cNvSpPr>
            <a:spLocks noGrp="1"/>
          </p:cNvSpPr>
          <p:nvPr>
            <p:ph type="title"/>
          </p:nvPr>
        </p:nvSpPr>
        <p:spPr>
          <a:xfrm>
            <a:off x="838200" y="365125"/>
            <a:ext cx="10515600" cy="1325563"/>
          </a:xfrm>
        </p:spPr>
        <p:txBody>
          <a:bodyPr/>
          <a:lstStyle/>
          <a:p>
            <a:r>
              <a:rPr lang="en-US" dirty="0"/>
              <a:t>SHIRE procedure</a:t>
            </a:r>
          </a:p>
        </p:txBody>
      </p:sp>
      <p:pic>
        <p:nvPicPr>
          <p:cNvPr id="2050" name="Picture 2" descr="🤖 AI Agents vs Agentic AI: The Mind-Blowing Difference That Will Change  Everything | by MahendraMedapati | Towards AI">
            <a:extLst>
              <a:ext uri="{FF2B5EF4-FFF2-40B4-BE49-F238E27FC236}">
                <a16:creationId xmlns:a16="http://schemas.microsoft.com/office/drawing/2014/main" id="{6B5C6BBD-2A62-CD6D-BC09-12389B31484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52594" t="5052" r="2724" b="24200"/>
          <a:stretch>
            <a:fillRect/>
          </a:stretch>
        </p:blipFill>
        <p:spPr bwMode="auto">
          <a:xfrm>
            <a:off x="4265096" y="3726595"/>
            <a:ext cx="727016" cy="76717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 AI Agents vs Agentic AI: The Mind-Blowing Difference That Will Change  Everything | by MahendraMedapati | Towards AI">
            <a:extLst>
              <a:ext uri="{FF2B5EF4-FFF2-40B4-BE49-F238E27FC236}">
                <a16:creationId xmlns:a16="http://schemas.microsoft.com/office/drawing/2014/main" id="{1F08EBE7-E67C-2896-D510-47AE32E8D24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52594" t="5052" r="2724" b="24200"/>
          <a:stretch>
            <a:fillRect/>
          </a:stretch>
        </p:blipFill>
        <p:spPr bwMode="auto">
          <a:xfrm>
            <a:off x="9020207" y="4483958"/>
            <a:ext cx="385013" cy="406282"/>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Api - Free computer icons">
            <a:extLst>
              <a:ext uri="{FF2B5EF4-FFF2-40B4-BE49-F238E27FC236}">
                <a16:creationId xmlns:a16="http://schemas.microsoft.com/office/drawing/2014/main" id="{EBB4FB34-5EB0-7255-88EA-73ED73022C1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660901" y="5201337"/>
            <a:ext cx="598056" cy="598056"/>
          </a:xfrm>
          <a:prstGeom prst="rect">
            <a:avLst/>
          </a:prstGeom>
          <a:noFill/>
          <a:extLst>
            <a:ext uri="{909E8E84-426E-40DD-AFC4-6F175D3DCCD1}">
              <a14:hiddenFill xmlns:a14="http://schemas.microsoft.com/office/drawing/2010/main">
                <a:solidFill>
                  <a:srgbClr val="FFFFFF"/>
                </a:solidFill>
              </a14:hiddenFill>
            </a:ext>
          </a:extLst>
        </p:spPr>
      </p:pic>
      <p:grpSp>
        <p:nvGrpSpPr>
          <p:cNvPr id="15" name="Group 14">
            <a:extLst>
              <a:ext uri="{FF2B5EF4-FFF2-40B4-BE49-F238E27FC236}">
                <a16:creationId xmlns:a16="http://schemas.microsoft.com/office/drawing/2014/main" id="{3A468C6C-1DDB-56EF-E09E-7F1D43F7DF34}"/>
              </a:ext>
            </a:extLst>
          </p:cNvPr>
          <p:cNvGrpSpPr/>
          <p:nvPr/>
        </p:nvGrpSpPr>
        <p:grpSpPr>
          <a:xfrm>
            <a:off x="4958801" y="5222616"/>
            <a:ext cx="3271517" cy="1107996"/>
            <a:chOff x="4762964" y="5166779"/>
            <a:chExt cx="3271517" cy="1107996"/>
          </a:xfrm>
        </p:grpSpPr>
        <p:sp>
          <p:nvSpPr>
            <p:cNvPr id="13" name="TextBox 12">
              <a:extLst>
                <a:ext uri="{FF2B5EF4-FFF2-40B4-BE49-F238E27FC236}">
                  <a16:creationId xmlns:a16="http://schemas.microsoft.com/office/drawing/2014/main" id="{BA56F002-3287-2966-581F-8FFDE26A67E5}"/>
                </a:ext>
              </a:extLst>
            </p:cNvPr>
            <p:cNvSpPr txBox="1"/>
            <p:nvPr/>
          </p:nvSpPr>
          <p:spPr>
            <a:xfrm>
              <a:off x="5263572" y="5166779"/>
              <a:ext cx="2770909" cy="1107996"/>
            </a:xfrm>
            <a:prstGeom prst="rect">
              <a:avLst/>
            </a:prstGeom>
            <a:noFill/>
            <a:ln w="28575">
              <a:solidFill>
                <a:schemeClr val="tx2">
                  <a:lumMod val="50000"/>
                  <a:lumOff val="50000"/>
                </a:schemeClr>
              </a:solidFill>
            </a:ln>
          </p:spPr>
          <p:txBody>
            <a:bodyPr wrap="square">
              <a:spAutoFit/>
            </a:bodyPr>
            <a:lstStyle/>
            <a:p>
              <a:pPr marL="91440" indent="-91440">
                <a:buFont typeface="Arial" panose="020B0604020202020204" pitchFamily="34" charset="0"/>
                <a:buChar char="•"/>
              </a:pPr>
              <a:r>
                <a:rPr lang="en-US" sz="1100" dirty="0">
                  <a:solidFill>
                    <a:schemeClr val="tx1"/>
                  </a:solidFill>
                  <a:latin typeface="Comic Sans MS" panose="030F0702030302020204" pitchFamily="66" charset="0"/>
                </a:rPr>
                <a:t>VM (OS, app directory, file structure, libraries installed, and others)</a:t>
              </a:r>
            </a:p>
            <a:p>
              <a:pPr marL="91440" indent="-91440">
                <a:buFont typeface="Arial" panose="020B0604020202020204" pitchFamily="34" charset="0"/>
                <a:buChar char="•"/>
              </a:pPr>
              <a:r>
                <a:rPr lang="en-US" sz="1100" dirty="0">
                  <a:solidFill>
                    <a:schemeClr val="tx1"/>
                  </a:solidFill>
                  <a:latin typeface="Comic Sans MS" panose="030F0702030302020204" pitchFamily="66" charset="0"/>
                </a:rPr>
                <a:t>Vulnerability (Vuln ID, CVE details, how to fix, previous resolution knowledge, resolution steps from internal tool)</a:t>
              </a:r>
            </a:p>
          </p:txBody>
        </p:sp>
        <p:pic>
          <p:nvPicPr>
            <p:cNvPr id="2054" name="Picture 6" descr="Document Icon PNG Transparent Background, Free Download #36546 -  FreeIconsPNG">
              <a:extLst>
                <a:ext uri="{FF2B5EF4-FFF2-40B4-BE49-F238E27FC236}">
                  <a16:creationId xmlns:a16="http://schemas.microsoft.com/office/drawing/2014/main" id="{34494921-30F7-3AE7-841A-B868B44A9A6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762964" y="5183411"/>
              <a:ext cx="491372" cy="491372"/>
            </a:xfrm>
            <a:prstGeom prst="rect">
              <a:avLst/>
            </a:prstGeom>
            <a:noFill/>
            <a:ln w="28575">
              <a:solidFill>
                <a:schemeClr val="tx2">
                  <a:lumMod val="50000"/>
                  <a:lumOff val="50000"/>
                </a:schemeClr>
              </a:solidFill>
            </a:ln>
            <a:extLst>
              <a:ext uri="{909E8E84-426E-40DD-AFC4-6F175D3DCCD1}">
                <a14:hiddenFill xmlns:a14="http://schemas.microsoft.com/office/drawing/2010/main">
                  <a:solidFill>
                    <a:srgbClr val="FFFFFF"/>
                  </a:solidFill>
                </a14:hiddenFill>
              </a:ext>
            </a:extLst>
          </p:spPr>
        </p:pic>
      </p:grpSp>
      <p:sp>
        <p:nvSpPr>
          <p:cNvPr id="17" name="Arrow: Left-Right 16">
            <a:extLst>
              <a:ext uri="{FF2B5EF4-FFF2-40B4-BE49-F238E27FC236}">
                <a16:creationId xmlns:a16="http://schemas.microsoft.com/office/drawing/2014/main" id="{BD1511AB-5BF4-F409-D75E-F6FF0F0490E5}"/>
              </a:ext>
            </a:extLst>
          </p:cNvPr>
          <p:cNvSpPr/>
          <p:nvPr/>
        </p:nvSpPr>
        <p:spPr>
          <a:xfrm rot="18000000">
            <a:off x="3939739" y="4786270"/>
            <a:ext cx="683491" cy="16048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Left-Right 17">
            <a:extLst>
              <a:ext uri="{FF2B5EF4-FFF2-40B4-BE49-F238E27FC236}">
                <a16:creationId xmlns:a16="http://schemas.microsoft.com/office/drawing/2014/main" id="{E4949770-61DE-75EA-2035-EC56E754E12A}"/>
              </a:ext>
            </a:extLst>
          </p:cNvPr>
          <p:cNvSpPr/>
          <p:nvPr/>
        </p:nvSpPr>
        <p:spPr>
          <a:xfrm rot="3600000">
            <a:off x="4599427" y="4786270"/>
            <a:ext cx="683491" cy="16048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4748A7A1-1B84-94D8-8F1F-9DD57B87DC06}"/>
              </a:ext>
            </a:extLst>
          </p:cNvPr>
          <p:cNvSpPr/>
          <p:nvPr/>
        </p:nvSpPr>
        <p:spPr>
          <a:xfrm>
            <a:off x="3904934" y="1690688"/>
            <a:ext cx="1458191" cy="1174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6392F656-3359-D131-A144-40CEEFD9E9B6}"/>
              </a:ext>
            </a:extLst>
          </p:cNvPr>
          <p:cNvSpPr/>
          <p:nvPr/>
        </p:nvSpPr>
        <p:spPr>
          <a:xfrm>
            <a:off x="3456272" y="4870715"/>
            <a:ext cx="4964664" cy="168536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4" name="Group 43">
            <a:extLst>
              <a:ext uri="{FF2B5EF4-FFF2-40B4-BE49-F238E27FC236}">
                <a16:creationId xmlns:a16="http://schemas.microsoft.com/office/drawing/2014/main" id="{B8743422-6B11-4AAD-DB90-8B13DDA3C5E6}"/>
              </a:ext>
            </a:extLst>
          </p:cNvPr>
          <p:cNvGrpSpPr/>
          <p:nvPr/>
        </p:nvGrpSpPr>
        <p:grpSpPr>
          <a:xfrm>
            <a:off x="8995005" y="3878601"/>
            <a:ext cx="3102591" cy="584775"/>
            <a:chOff x="9487588" y="5063413"/>
            <a:chExt cx="3102591" cy="584775"/>
          </a:xfrm>
        </p:grpSpPr>
        <p:sp>
          <p:nvSpPr>
            <p:cNvPr id="45" name="Rectangle 44">
              <a:extLst>
                <a:ext uri="{FF2B5EF4-FFF2-40B4-BE49-F238E27FC236}">
                  <a16:creationId xmlns:a16="http://schemas.microsoft.com/office/drawing/2014/main" id="{46C5D298-74C3-5767-D4DC-6593F61B6EBB}"/>
                </a:ext>
              </a:extLst>
            </p:cNvPr>
            <p:cNvSpPr/>
            <p:nvPr/>
          </p:nvSpPr>
          <p:spPr>
            <a:xfrm>
              <a:off x="9487588" y="5101935"/>
              <a:ext cx="491371" cy="27998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C9900BB5-2465-1F70-D1D1-54C8EE7DEA62}"/>
                </a:ext>
              </a:extLst>
            </p:cNvPr>
            <p:cNvSpPr txBox="1"/>
            <p:nvPr/>
          </p:nvSpPr>
          <p:spPr>
            <a:xfrm>
              <a:off x="10030696" y="5063413"/>
              <a:ext cx="2559483" cy="584775"/>
            </a:xfrm>
            <a:prstGeom prst="rect">
              <a:avLst/>
            </a:prstGeom>
            <a:noFill/>
          </p:spPr>
          <p:txBody>
            <a:bodyPr wrap="none" rtlCol="0">
              <a:spAutoFit/>
            </a:bodyPr>
            <a:lstStyle/>
            <a:p>
              <a:pPr marL="285750" indent="-285750">
                <a:buFontTx/>
                <a:buChar char="-"/>
              </a:pPr>
              <a:r>
                <a:rPr lang="en-US" sz="1600" dirty="0"/>
                <a:t>Missing components in </a:t>
              </a:r>
            </a:p>
            <a:p>
              <a:r>
                <a:rPr lang="en-US" sz="1600" dirty="0"/>
                <a:t>RBC env</a:t>
              </a:r>
            </a:p>
          </p:txBody>
        </p:sp>
      </p:grpSp>
    </p:spTree>
    <p:extLst>
      <p:ext uri="{BB962C8B-B14F-4D97-AF65-F5344CB8AC3E}">
        <p14:creationId xmlns:p14="http://schemas.microsoft.com/office/powerpoint/2010/main" val="37797370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1225A-9FCB-68F7-6526-908F808D7D07}"/>
              </a:ext>
            </a:extLst>
          </p:cNvPr>
          <p:cNvSpPr>
            <a:spLocks noGrp="1"/>
          </p:cNvSpPr>
          <p:nvPr>
            <p:ph type="title"/>
          </p:nvPr>
        </p:nvSpPr>
        <p:spPr/>
        <p:txBody>
          <a:bodyPr/>
          <a:lstStyle/>
          <a:p>
            <a:r>
              <a:rPr lang="en-US" dirty="0"/>
              <a:t>Features in focus</a:t>
            </a:r>
          </a:p>
        </p:txBody>
      </p:sp>
      <p:sp>
        <p:nvSpPr>
          <p:cNvPr id="3" name="Content Placeholder 2">
            <a:extLst>
              <a:ext uri="{FF2B5EF4-FFF2-40B4-BE49-F238E27FC236}">
                <a16:creationId xmlns:a16="http://schemas.microsoft.com/office/drawing/2014/main" id="{B227337D-C7AE-37B3-3E04-A5822A2F84B9}"/>
              </a:ext>
            </a:extLst>
          </p:cNvPr>
          <p:cNvSpPr>
            <a:spLocks noGrp="1"/>
          </p:cNvSpPr>
          <p:nvPr>
            <p:ph idx="1"/>
          </p:nvPr>
        </p:nvSpPr>
        <p:spPr/>
        <p:txBody>
          <a:bodyPr>
            <a:normAutofit/>
          </a:bodyPr>
          <a:lstStyle/>
          <a:p>
            <a:r>
              <a:rPr lang="en-US" sz="1800" dirty="0"/>
              <a:t>end-to-end resolution of most recurring-simple vulnerabilities.</a:t>
            </a:r>
          </a:p>
          <a:p>
            <a:r>
              <a:rPr lang="en-US" sz="1800" dirty="0"/>
              <a:t>Jira stories for tracking and auditing.</a:t>
            </a:r>
          </a:p>
          <a:p>
            <a:r>
              <a:rPr lang="en-US" sz="1800" dirty="0"/>
              <a:t>Graph DB</a:t>
            </a:r>
          </a:p>
        </p:txBody>
      </p:sp>
    </p:spTree>
    <p:extLst>
      <p:ext uri="{BB962C8B-B14F-4D97-AF65-F5344CB8AC3E}">
        <p14:creationId xmlns:p14="http://schemas.microsoft.com/office/powerpoint/2010/main" val="40635459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E0C9FE-7E71-72A9-D8FF-DE48D330A6DD}"/>
              </a:ext>
            </a:extLst>
          </p:cNvPr>
          <p:cNvSpPr>
            <a:spLocks noGrp="1"/>
          </p:cNvSpPr>
          <p:nvPr>
            <p:ph type="title"/>
          </p:nvPr>
        </p:nvSpPr>
        <p:spPr/>
        <p:txBody>
          <a:bodyPr/>
          <a:lstStyle/>
          <a:p>
            <a:r>
              <a:rPr lang="en-US" dirty="0"/>
              <a:t>Dependencies</a:t>
            </a:r>
          </a:p>
        </p:txBody>
      </p:sp>
      <p:sp>
        <p:nvSpPr>
          <p:cNvPr id="3" name="Content Placeholder 2">
            <a:extLst>
              <a:ext uri="{FF2B5EF4-FFF2-40B4-BE49-F238E27FC236}">
                <a16:creationId xmlns:a16="http://schemas.microsoft.com/office/drawing/2014/main" id="{C32C5E90-6628-13F6-B0DD-16BE049047C9}"/>
              </a:ext>
            </a:extLst>
          </p:cNvPr>
          <p:cNvSpPr>
            <a:spLocks noGrp="1"/>
          </p:cNvSpPr>
          <p:nvPr>
            <p:ph idx="1"/>
          </p:nvPr>
        </p:nvSpPr>
        <p:spPr/>
        <p:txBody>
          <a:bodyPr>
            <a:normAutofit/>
          </a:bodyPr>
          <a:lstStyle/>
          <a:p>
            <a:r>
              <a:rPr lang="en-US" sz="1800" dirty="0"/>
              <a:t>Databricks</a:t>
            </a:r>
          </a:p>
          <a:p>
            <a:pPr lvl="1"/>
            <a:r>
              <a:rPr lang="en-US" sz="1800" dirty="0"/>
              <a:t>Unable to install Python libraries on </a:t>
            </a:r>
            <a:r>
              <a:rPr lang="en-US" sz="1800" dirty="0" err="1"/>
              <a:t>databricks</a:t>
            </a:r>
            <a:r>
              <a:rPr lang="en-US" sz="1800" dirty="0"/>
              <a:t> using internal </a:t>
            </a:r>
            <a:r>
              <a:rPr lang="en-US" sz="1800" b="1" u="sng" dirty="0" err="1"/>
              <a:t>databricks</a:t>
            </a:r>
            <a:r>
              <a:rPr lang="en-US" sz="1800" b="1" u="sng" dirty="0"/>
              <a:t> library manager</a:t>
            </a:r>
            <a:r>
              <a:rPr lang="en-US" sz="1800" dirty="0"/>
              <a:t>. (due to blocked </a:t>
            </a:r>
            <a:r>
              <a:rPr lang="en-US" sz="1800" dirty="0" err="1"/>
              <a:t>pypi</a:t>
            </a:r>
            <a:r>
              <a:rPr lang="en-US" sz="1800" dirty="0"/>
              <a:t> servers)</a:t>
            </a:r>
          </a:p>
          <a:p>
            <a:pPr lvl="1"/>
            <a:r>
              <a:rPr lang="en-US" sz="1800" dirty="0"/>
              <a:t>Access to websites to fetch CVE details (</a:t>
            </a:r>
            <a:r>
              <a:rPr lang="en-US" sz="1800" dirty="0" err="1"/>
              <a:t>Redhat</a:t>
            </a:r>
            <a:r>
              <a:rPr lang="en-US" sz="1800" dirty="0"/>
              <a:t> API, cve.org, cisa.gov)</a:t>
            </a:r>
          </a:p>
          <a:p>
            <a:r>
              <a:rPr lang="en-US" sz="1800" dirty="0"/>
              <a:t>SSH Access to </a:t>
            </a:r>
            <a:r>
              <a:rPr lang="en-US" sz="1800" b="1" dirty="0"/>
              <a:t>Live VM </a:t>
            </a:r>
            <a:r>
              <a:rPr lang="en-US" sz="1800" dirty="0"/>
              <a:t>with a </a:t>
            </a:r>
            <a:r>
              <a:rPr lang="en-US" sz="1800" b="1" dirty="0"/>
              <a:t>vulnerability</a:t>
            </a:r>
            <a:r>
              <a:rPr lang="en-US" sz="1800" dirty="0"/>
              <a:t>.</a:t>
            </a:r>
          </a:p>
          <a:p>
            <a:r>
              <a:rPr lang="en-US" sz="1800" dirty="0"/>
              <a:t>Dedicated SME. </a:t>
            </a:r>
            <a:r>
              <a:rPr lang="en-US" sz="1800" b="1" dirty="0"/>
              <a:t>(2-4hrs support everyday)</a:t>
            </a:r>
          </a:p>
          <a:p>
            <a:r>
              <a:rPr lang="en-US" sz="1800" dirty="0">
                <a:solidFill>
                  <a:srgbClr val="FFC000"/>
                </a:solidFill>
              </a:rPr>
              <a:t>JIRA access</a:t>
            </a:r>
          </a:p>
          <a:p>
            <a:r>
              <a:rPr lang="en-US" sz="1800" dirty="0"/>
              <a:t>All historical vulnerability data with below columns. (to build graph </a:t>
            </a:r>
            <a:r>
              <a:rPr lang="en-US" sz="1800" dirty="0" err="1"/>
              <a:t>db</a:t>
            </a:r>
            <a:r>
              <a:rPr lang="en-US" sz="1800" dirty="0"/>
              <a:t>)</a:t>
            </a:r>
          </a:p>
          <a:p>
            <a:pPr lvl="1"/>
            <a:r>
              <a:rPr lang="en-US" sz="1400" dirty="0"/>
              <a:t>[App Code, App Name, Asset Name, ENV, Platform, Exposure, First Detection Date, Fix By Date, Status, Treatment Owner, Vuln ID, Vuln Name, App Coordinator, App Custodian, CUSO, L3 Name (ITPM), L4 Name, L5 Name, SOC1/SOX/CJ]</a:t>
            </a:r>
          </a:p>
        </p:txBody>
      </p:sp>
    </p:spTree>
    <p:extLst>
      <p:ext uri="{BB962C8B-B14F-4D97-AF65-F5344CB8AC3E}">
        <p14:creationId xmlns:p14="http://schemas.microsoft.com/office/powerpoint/2010/main" val="2438845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156</TotalTime>
  <Words>307</Words>
  <Application>Microsoft Office PowerPoint</Application>
  <PresentationFormat>Widescreen</PresentationFormat>
  <Paragraphs>39</Paragraphs>
  <Slides>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Aptos</vt:lpstr>
      <vt:lpstr>Aptos Display</vt:lpstr>
      <vt:lpstr>Arial</vt:lpstr>
      <vt:lpstr>Comic Sans MS</vt:lpstr>
      <vt:lpstr>Office Theme</vt:lpstr>
      <vt:lpstr>SHIRE MVP Plan</vt:lpstr>
      <vt:lpstr>Current Procedure</vt:lpstr>
      <vt:lpstr>SHIRE procedure</vt:lpstr>
      <vt:lpstr>Features in focus</vt:lpstr>
      <vt:lpstr>Dependencies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Yeshwanth Reddy</dc:creator>
  <cp:lastModifiedBy>Yeshwanth Reddy</cp:lastModifiedBy>
  <cp:revision>1</cp:revision>
  <dcterms:created xsi:type="dcterms:W3CDTF">2025-12-08T17:05:33Z</dcterms:created>
  <dcterms:modified xsi:type="dcterms:W3CDTF">2025-12-08T19:42:24Z</dcterms:modified>
</cp:coreProperties>
</file>