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AE58-B5E4-E679-9C71-A71B0FC58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AB6EA-F77C-4F69-8D24-CC9D041337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7B2DD-B739-7D92-C8F9-C5BFA4BB4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C7C0-D194-4FCF-B1B3-E8C3DE34FBC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1013B-8389-0549-1647-030688D6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12A22-98A7-CAE9-09A4-3A4006031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7249-342A-4097-B04A-D8CD8D1DC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1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1BD1F-686F-830E-3B71-B9FA71062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B4B4A-DA9E-6FEC-C2D4-F90CA8F52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AA3C1-67D2-8A7B-A01D-397CC02B9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C7C0-D194-4FCF-B1B3-E8C3DE34FBC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51338-98BB-A5C8-FEED-AD1F8381B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9768C-2EE2-F5BE-2524-F11D39AC4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7249-342A-4097-B04A-D8CD8D1DC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1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95888-5F7A-EE05-74B4-2B092DFD0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D23B8-4C75-5731-7265-039A22BBD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630E1-FAD5-B894-9290-7F86B7BC6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C7C0-D194-4FCF-B1B3-E8C3DE34FBC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B6887-DD4A-3F7C-5A45-5D22BEE3E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3B451-0425-88F9-EA1F-6E7BF9373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7249-342A-4097-B04A-D8CD8D1DC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64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68A97-455D-A7B9-BD91-5B3068FF0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6470F-9A57-5AC1-9240-3A06FFCE9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93626-0E1E-E04A-49A1-01BD56D1B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022A9-6782-35CF-1140-EB359C67F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C7C0-D194-4FCF-B1B3-E8C3DE34FBC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1961B-8930-71BC-D6FF-CB48686CE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2C0C2-7D93-231A-C7AE-EBB29DE35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7249-342A-4097-B04A-D8CD8D1DC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60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C1A63-2F2C-BDC9-A2DB-A8AD6CA4F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C37F4-196D-4AF2-6344-242D3B6E5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5F2FE-37D6-7157-F22C-EC4FB9B78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1DFD89-9B5A-CF11-39F4-33ED42510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5182CB-5E63-BD3B-96A1-133A0F49D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D509B5-21E8-1E99-571F-9968F027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C7C0-D194-4FCF-B1B3-E8C3DE34FBC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B8C041-AA56-4B5C-FFE1-0B32EF08F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A6361B-1935-2630-6C03-209568CF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7249-342A-4097-B04A-D8CD8D1DC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5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3538-541E-AC03-F8D2-978458A71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DD487-9BD0-45D5-4F1A-CAA3C91EB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C7C0-D194-4FCF-B1B3-E8C3DE34FBC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0A506-A5D3-61E8-6C8C-2FED73A1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E18F1-D1F0-A52A-9285-A7A05FCD2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7249-342A-4097-B04A-D8CD8D1DC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9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073BB-1DB6-ACA9-B860-0AB76E3CD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C7C0-D194-4FCF-B1B3-E8C3DE34FBC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ECEFB2-43A2-0FD8-460F-05FF31ABB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DEB0A-AA33-318C-72E6-55803DBD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7249-342A-4097-B04A-D8CD8D1DC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80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B79DC-AE8E-0AD4-E308-7CD484F45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0C2AF-828A-A979-33BF-171F1EBC8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02973D-2D94-5F77-D165-3AE87A4E4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AE184-C5AE-2A9C-B658-2B99AD726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C7C0-D194-4FCF-B1B3-E8C3DE34FBC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0DC35-B741-6A30-A812-86404A3F3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FC5C7-E51F-DB35-D651-6CCCAE52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7249-342A-4097-B04A-D8CD8D1DC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7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79771-E83D-D07E-473D-E6A834F07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C9435C-DC66-91B8-9FB7-53A272462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F84B8-A36B-5617-557D-488AF171F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1896B-F11D-D2A1-5D70-DDF4B39E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C7C0-D194-4FCF-B1B3-E8C3DE34FBC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D95D5-EC4D-E784-041F-6973B4C6F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0E067-0662-DB54-FD15-A59EBB312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7249-342A-4097-B04A-D8CD8D1DC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93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D791D-CC36-853B-F673-969CFD7F4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34B519-C449-25DE-E6FC-302CD3540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0CB64-8999-EE87-516F-E8D5FDCED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C7C0-D194-4FCF-B1B3-E8C3DE34FBC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B9717-6588-962E-52A5-A77840F2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B9DE5-2FA3-CE96-0882-2702ED4B2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7249-342A-4097-B04A-D8CD8D1DC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610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A7B25C-F60C-7D4E-6DB7-B60258D58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EB0189-A3D7-4DB1-E7F5-9B5C0943D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12F33-4235-B6FB-67B2-180E6567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C7C0-D194-4FCF-B1B3-E8C3DE34FBC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4D9AB-1065-A39E-31B9-95AC510D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56428-6D10-6E16-9AE1-F3D18252B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7249-342A-4097-B04A-D8CD8D1DC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22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EF9054-898D-C05D-D382-2CCA14C4B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83F9D-6355-88CA-8EC5-A5AD331C3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C05D0-5413-E955-79D6-523DA52D9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D7C7C0-D194-4FCF-B1B3-E8C3DE34FBCB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A358B-CC29-F9EB-DA9E-9AE958EE7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CBFA2-02E3-4FC1-62E7-C9B205756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57249-342A-4097-B04A-D8CD8D1DC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1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microsoft.com/office/2007/relationships/hdphoto" Target="../media/hdphoto1.wdp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5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5D643C6-2C87-C397-15FE-A5E4CD742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/>
              <a:t>SHIRE MVP Plan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93D4935-0EFD-EFDB-B796-E520F3F48D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/>
              <a:t>SHIRE MVP on RBC environment. (8 weeks)</a:t>
            </a:r>
          </a:p>
        </p:txBody>
      </p:sp>
    </p:spTree>
    <p:extLst>
      <p:ext uri="{BB962C8B-B14F-4D97-AF65-F5344CB8AC3E}">
        <p14:creationId xmlns:p14="http://schemas.microsoft.com/office/powerpoint/2010/main" val="845062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Developer - Free computer icons">
            <a:extLst>
              <a:ext uri="{FF2B5EF4-FFF2-40B4-BE49-F238E27FC236}">
                <a16:creationId xmlns:a16="http://schemas.microsoft.com/office/drawing/2014/main" id="{B7600586-1884-595E-6AE5-74B588C30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548" y="3653564"/>
            <a:ext cx="683491" cy="68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662E245-7726-D211-D35D-C8E4217E32C2}"/>
              </a:ext>
            </a:extLst>
          </p:cNvPr>
          <p:cNvGrpSpPr/>
          <p:nvPr/>
        </p:nvGrpSpPr>
        <p:grpSpPr>
          <a:xfrm>
            <a:off x="4079010" y="1743111"/>
            <a:ext cx="1012862" cy="915230"/>
            <a:chOff x="1939637" y="2144314"/>
            <a:chExt cx="1012862" cy="915230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484276BE-5EA5-9FD8-F477-974A2FA707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939637" y="2376053"/>
              <a:ext cx="683491" cy="6834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Vulnerability Generic color outline icon | Freepik">
              <a:extLst>
                <a:ext uri="{FF2B5EF4-FFF2-40B4-BE49-F238E27FC236}">
                  <a16:creationId xmlns:a16="http://schemas.microsoft.com/office/drawing/2014/main" id="{4E29465D-D61F-9F2F-3C6F-4BC94F7577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prstClr val="black"/>
                <a:srgbClr val="FF000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4443" y="2144314"/>
              <a:ext cx="598056" cy="598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6">
            <a:extLst>
              <a:ext uri="{FF2B5EF4-FFF2-40B4-BE49-F238E27FC236}">
                <a16:creationId xmlns:a16="http://schemas.microsoft.com/office/drawing/2014/main" id="{61796BC9-FFF8-B6A1-3257-A611EE0ED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192521" y="3709562"/>
            <a:ext cx="683491" cy="68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Dashboard Tableau Software Data visualization Infographic Information,  infographic, text png | PNGEgg">
            <a:extLst>
              <a:ext uri="{FF2B5EF4-FFF2-40B4-BE49-F238E27FC236}">
                <a16:creationId xmlns:a16="http://schemas.microsoft.com/office/drawing/2014/main" id="{1DF4A6B5-A5DA-E58D-64D0-561A853A14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21" t="17212" r="26296" b="18632"/>
          <a:stretch>
            <a:fillRect/>
          </a:stretch>
        </p:blipFill>
        <p:spPr bwMode="auto">
          <a:xfrm>
            <a:off x="371875" y="3801343"/>
            <a:ext cx="769859" cy="59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194FFF2-DD9A-37D5-8012-9A15BC45F5E3}"/>
              </a:ext>
            </a:extLst>
          </p:cNvPr>
          <p:cNvGrpSpPr/>
          <p:nvPr/>
        </p:nvGrpSpPr>
        <p:grpSpPr>
          <a:xfrm>
            <a:off x="2213041" y="2562513"/>
            <a:ext cx="616751" cy="3118432"/>
            <a:chOff x="2462423" y="2036041"/>
            <a:chExt cx="616751" cy="3118432"/>
          </a:xfrm>
        </p:grpSpPr>
        <p:pic>
          <p:nvPicPr>
            <p:cNvPr id="11" name="Picture 14" descr="Vulnerability Generic color outline icon | Freepik">
              <a:extLst>
                <a:ext uri="{FF2B5EF4-FFF2-40B4-BE49-F238E27FC236}">
                  <a16:creationId xmlns:a16="http://schemas.microsoft.com/office/drawing/2014/main" id="{662CCD82-A10A-A42D-CDFC-D3BCAF998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2423" y="3274871"/>
              <a:ext cx="598056" cy="598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4" descr="Vulnerability Generic color outline icon | Freepik">
              <a:extLst>
                <a:ext uri="{FF2B5EF4-FFF2-40B4-BE49-F238E27FC236}">
                  <a16:creationId xmlns:a16="http://schemas.microsoft.com/office/drawing/2014/main" id="{929286CC-A997-380A-4B22-EF346FB8C4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1118" y="2634097"/>
              <a:ext cx="598056" cy="598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4" descr="Vulnerability Generic color outline icon | Freepik">
              <a:extLst>
                <a:ext uri="{FF2B5EF4-FFF2-40B4-BE49-F238E27FC236}">
                  <a16:creationId xmlns:a16="http://schemas.microsoft.com/office/drawing/2014/main" id="{AAF2361C-8DE5-2DD0-96BE-2F94086569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2423" y="2036041"/>
              <a:ext cx="598056" cy="598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4" descr="Vulnerability Generic color outline icon | Freepik">
              <a:extLst>
                <a:ext uri="{FF2B5EF4-FFF2-40B4-BE49-F238E27FC236}">
                  <a16:creationId xmlns:a16="http://schemas.microsoft.com/office/drawing/2014/main" id="{9DA01DD2-EFC4-5C34-0936-9708CD385A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2423" y="3915644"/>
              <a:ext cx="598056" cy="598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Vulnerability Generic color outline icon | Freepik">
              <a:extLst>
                <a:ext uri="{FF2B5EF4-FFF2-40B4-BE49-F238E27FC236}">
                  <a16:creationId xmlns:a16="http://schemas.microsoft.com/office/drawing/2014/main" id="{FFE01D2D-6839-CF61-D2B5-73CCE78CE8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2423" y="4556417"/>
              <a:ext cx="598056" cy="598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F2982FB-EBC8-40A3-0BD6-D7364F01F253}"/>
              </a:ext>
            </a:extLst>
          </p:cNvPr>
          <p:cNvSpPr/>
          <p:nvPr/>
        </p:nvSpPr>
        <p:spPr>
          <a:xfrm>
            <a:off x="1362829" y="3995309"/>
            <a:ext cx="598056" cy="1726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6323891-0F36-04A3-176D-58CA1C38FD2D}"/>
              </a:ext>
            </a:extLst>
          </p:cNvPr>
          <p:cNvSpPr/>
          <p:nvPr/>
        </p:nvSpPr>
        <p:spPr>
          <a:xfrm>
            <a:off x="3217142" y="3995308"/>
            <a:ext cx="598056" cy="1726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3649F57C-B63D-CA61-31AD-272BF7474352}"/>
              </a:ext>
            </a:extLst>
          </p:cNvPr>
          <p:cNvSpPr/>
          <p:nvPr/>
        </p:nvSpPr>
        <p:spPr>
          <a:xfrm rot="16200000">
            <a:off x="4150016" y="3037610"/>
            <a:ext cx="683491" cy="16048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177F49E-7A51-59D3-934F-A6A1BB848A56}"/>
              </a:ext>
            </a:extLst>
          </p:cNvPr>
          <p:cNvSpPr/>
          <p:nvPr/>
        </p:nvSpPr>
        <p:spPr>
          <a:xfrm>
            <a:off x="5273389" y="4014070"/>
            <a:ext cx="598056" cy="1726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3D35D9-579B-C62C-BE05-28DC3B0893D2}"/>
              </a:ext>
            </a:extLst>
          </p:cNvPr>
          <p:cNvSpPr txBox="1"/>
          <p:nvPr/>
        </p:nvSpPr>
        <p:spPr>
          <a:xfrm>
            <a:off x="4544293" y="2948574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ssh</a:t>
            </a:r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1780952E-6C34-2B5B-7EA6-F147D8C9E0E1}"/>
              </a:ext>
            </a:extLst>
          </p:cNvPr>
          <p:cNvSpPr/>
          <p:nvPr/>
        </p:nvSpPr>
        <p:spPr>
          <a:xfrm>
            <a:off x="5434564" y="1690836"/>
            <a:ext cx="1747862" cy="683491"/>
          </a:xfrm>
          <a:prstGeom prst="wedgeRoundRectCallout">
            <a:avLst>
              <a:gd name="adj1" fmla="val -71281"/>
              <a:gd name="adj2" fmla="val 20273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</a:rPr>
              <a:t>Live VM with a vulnerability.</a:t>
            </a:r>
          </a:p>
        </p:txBody>
      </p:sp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CDDA4FAF-612C-CB94-57E2-D5E87FFC90C8}"/>
              </a:ext>
            </a:extLst>
          </p:cNvPr>
          <p:cNvSpPr/>
          <p:nvPr/>
        </p:nvSpPr>
        <p:spPr>
          <a:xfrm>
            <a:off x="4079010" y="4970173"/>
            <a:ext cx="3565236" cy="1271154"/>
          </a:xfrm>
          <a:prstGeom prst="wedgeRoundRectCallout">
            <a:avLst>
              <a:gd name="adj1" fmla="val -34823"/>
              <a:gd name="adj2" fmla="val -87182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</a:rPr>
              <a:t>Dev with knowledge of the:</a:t>
            </a:r>
            <a:endParaRPr lang="en-US" sz="12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342900" indent="-342900"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Comic Sans MS" panose="030F0702030302020204" pitchFamily="66" charset="0"/>
              </a:rPr>
              <a:t>VM (OS, app directory, file structure, libraries installed, and others)</a:t>
            </a:r>
          </a:p>
          <a:p>
            <a:pPr marL="342900" indent="-342900"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Comic Sans MS" panose="030F0702030302020204" pitchFamily="66" charset="0"/>
              </a:rPr>
              <a:t>Vulnerability (Vuln ID, CVE details, how to fix, previous resolution knowledge, resolution steps from internal tool)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F1CD519-99B3-C538-D849-387A36D1D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Current Procedure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0A2EBF-1F93-5EBE-8C9A-722D54918425}"/>
              </a:ext>
            </a:extLst>
          </p:cNvPr>
          <p:cNvSpPr txBox="1"/>
          <p:nvPr/>
        </p:nvSpPr>
        <p:spPr>
          <a:xfrm>
            <a:off x="9525529" y="4517822"/>
            <a:ext cx="25387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- SHIRE Agentic AI solution</a:t>
            </a:r>
          </a:p>
        </p:txBody>
      </p:sp>
      <p:pic>
        <p:nvPicPr>
          <p:cNvPr id="25" name="Picture 14" descr="Vulnerability Generic color outline icon | Freepik">
            <a:extLst>
              <a:ext uri="{FF2B5EF4-FFF2-40B4-BE49-F238E27FC236}">
                <a16:creationId xmlns:a16="http://schemas.microsoft.com/office/drawing/2014/main" id="{BAF7CF94-3B79-0455-1931-6FEA19DFE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0991" y="4973643"/>
            <a:ext cx="354229" cy="35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88F65EA-39B6-5FAE-13EB-6663DC259EB2}"/>
              </a:ext>
            </a:extLst>
          </p:cNvPr>
          <p:cNvSpPr txBox="1"/>
          <p:nvPr/>
        </p:nvSpPr>
        <p:spPr>
          <a:xfrm>
            <a:off x="9534765" y="4965199"/>
            <a:ext cx="1398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- Vulnerability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7F90CEE-DDB5-FD73-4735-66178A8D0B8A}"/>
              </a:ext>
            </a:extLst>
          </p:cNvPr>
          <p:cNvGrpSpPr/>
          <p:nvPr/>
        </p:nvGrpSpPr>
        <p:grpSpPr>
          <a:xfrm>
            <a:off x="9017653" y="5308933"/>
            <a:ext cx="511003" cy="448472"/>
            <a:chOff x="1939637" y="2162602"/>
            <a:chExt cx="1022006" cy="896944"/>
          </a:xfrm>
        </p:grpSpPr>
        <p:pic>
          <p:nvPicPr>
            <p:cNvPr id="28" name="Picture 6">
              <a:extLst>
                <a:ext uri="{FF2B5EF4-FFF2-40B4-BE49-F238E27FC236}">
                  <a16:creationId xmlns:a16="http://schemas.microsoft.com/office/drawing/2014/main" id="{BA485DBF-5A7F-3FCB-C25D-A1AF621D68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939637" y="2376054"/>
              <a:ext cx="683492" cy="6834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Vulnerability Generic color outline icon | Freepik">
              <a:extLst>
                <a:ext uri="{FF2B5EF4-FFF2-40B4-BE49-F238E27FC236}">
                  <a16:creationId xmlns:a16="http://schemas.microsoft.com/office/drawing/2014/main" id="{76CD2AAF-CDD5-BF05-55DD-27D0280E2B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3587" y="2162602"/>
              <a:ext cx="598056" cy="598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0A1CA1D-3DAB-36A2-115B-E20CA43E7CCB}"/>
              </a:ext>
            </a:extLst>
          </p:cNvPr>
          <p:cNvSpPr txBox="1"/>
          <p:nvPr/>
        </p:nvSpPr>
        <p:spPr>
          <a:xfrm>
            <a:off x="9529215" y="5382223"/>
            <a:ext cx="18065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- Live VM with vuln</a:t>
            </a:r>
          </a:p>
        </p:txBody>
      </p:sp>
      <p:pic>
        <p:nvPicPr>
          <p:cNvPr id="31" name="Picture 12" descr="Dashboard Tableau Software Data visualization Infographic Information,  infographic, text png | PNGEgg">
            <a:extLst>
              <a:ext uri="{FF2B5EF4-FFF2-40B4-BE49-F238E27FC236}">
                <a16:creationId xmlns:a16="http://schemas.microsoft.com/office/drawing/2014/main" id="{7264BF59-09B1-F485-CB41-CAFEACA4C2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21" t="17212" r="26296" b="18632"/>
          <a:stretch>
            <a:fillRect/>
          </a:stretch>
        </p:blipFill>
        <p:spPr bwMode="auto">
          <a:xfrm>
            <a:off x="9014047" y="5807613"/>
            <a:ext cx="491372" cy="38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9EF18A0-C576-110E-3F03-95A349377127}"/>
              </a:ext>
            </a:extLst>
          </p:cNvPr>
          <p:cNvSpPr txBox="1"/>
          <p:nvPr/>
        </p:nvSpPr>
        <p:spPr>
          <a:xfrm>
            <a:off x="9534765" y="5826085"/>
            <a:ext cx="19874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- Tableau dashboard</a:t>
            </a:r>
          </a:p>
        </p:txBody>
      </p:sp>
      <p:pic>
        <p:nvPicPr>
          <p:cNvPr id="33" name="Picture 4" descr="Developer - Free computer icons">
            <a:extLst>
              <a:ext uri="{FF2B5EF4-FFF2-40B4-BE49-F238E27FC236}">
                <a16:creationId xmlns:a16="http://schemas.microsoft.com/office/drawing/2014/main" id="{70222F46-385A-F63D-CCBF-F1DF21ED0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1335" y="6252979"/>
            <a:ext cx="435490" cy="435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841B734-1CED-6146-6022-C2CAFA047CAB}"/>
              </a:ext>
            </a:extLst>
          </p:cNvPr>
          <p:cNvSpPr txBox="1"/>
          <p:nvPr/>
        </p:nvSpPr>
        <p:spPr>
          <a:xfrm>
            <a:off x="9544001" y="6305951"/>
            <a:ext cx="1201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- Developer</a:t>
            </a:r>
          </a:p>
        </p:txBody>
      </p:sp>
      <p:pic>
        <p:nvPicPr>
          <p:cNvPr id="35" name="Picture 2" descr="🤖 AI Agents vs Agentic AI: The Mind-Blowing Difference That Will Change  Everything | by MahendraMedapati | Towards AI">
            <a:extLst>
              <a:ext uri="{FF2B5EF4-FFF2-40B4-BE49-F238E27FC236}">
                <a16:creationId xmlns:a16="http://schemas.microsoft.com/office/drawing/2014/main" id="{A164A192-F899-E183-25FA-CA87D381DB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94" t="5052" r="2724" b="24200"/>
          <a:stretch>
            <a:fillRect/>
          </a:stretch>
        </p:blipFill>
        <p:spPr bwMode="auto">
          <a:xfrm>
            <a:off x="9020207" y="4483958"/>
            <a:ext cx="385013" cy="406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00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3C9AC-0710-64CC-C65D-3AC2F264B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SHIRE Framework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720570A-A302-7EDE-9E85-7381B75B9BD8}"/>
              </a:ext>
            </a:extLst>
          </p:cNvPr>
          <p:cNvGrpSpPr/>
          <p:nvPr/>
        </p:nvGrpSpPr>
        <p:grpSpPr>
          <a:xfrm>
            <a:off x="7628365" y="121595"/>
            <a:ext cx="2465546" cy="2465546"/>
            <a:chOff x="5871225" y="200532"/>
            <a:chExt cx="2345771" cy="2345771"/>
          </a:xfrm>
        </p:grpSpPr>
        <p:pic>
          <p:nvPicPr>
            <p:cNvPr id="4" name="Picture 2" descr="🤖 AI Agents vs Agentic AI: The Mind-Blowing Difference That Will Change  Everything | by MahendraMedapati | Towards AI">
              <a:extLst>
                <a:ext uri="{FF2B5EF4-FFF2-40B4-BE49-F238E27FC236}">
                  <a16:creationId xmlns:a16="http://schemas.microsoft.com/office/drawing/2014/main" id="{2428FC1E-1D17-B483-C74E-1F054DDA70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94" t="5052" r="2724" b="24200"/>
            <a:stretch>
              <a:fillRect/>
            </a:stretch>
          </p:blipFill>
          <p:spPr bwMode="auto">
            <a:xfrm>
              <a:off x="6014969" y="644317"/>
              <a:ext cx="1213604" cy="1280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Magnifying glass - Free education icons">
              <a:extLst>
                <a:ext uri="{FF2B5EF4-FFF2-40B4-BE49-F238E27FC236}">
                  <a16:creationId xmlns:a16="http://schemas.microsoft.com/office/drawing/2014/main" id="{5B6C4620-6C77-7320-02BC-31C36B9EA8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758" b="98438" l="2344" r="98828">
                          <a14:foregroundMark x1="73828" y1="71680" x2="73828" y2="71680"/>
                          <a14:foregroundMark x1="65039" y1="61133" x2="65039" y2="61133"/>
                          <a14:foregroundMark x1="7031" y1="40430" x2="7031" y2="30078"/>
                          <a14:foregroundMark x1="30859" y1="9570" x2="65820" y2="27148"/>
                          <a14:foregroundMark x1="65820" y1="27148" x2="59180" y2="74023"/>
                          <a14:foregroundMark x1="59180" y1="74023" x2="85156" y2="90234"/>
                          <a14:foregroundMark x1="85156" y1="90234" x2="79883" y2="68555"/>
                          <a14:foregroundMark x1="56055" y1="18359" x2="23438" y2="9375"/>
                          <a14:foregroundMark x1="23438" y1="9375" x2="8789" y2="31445"/>
                          <a14:foregroundMark x1="8789" y1="31445" x2="18164" y2="63477"/>
                          <a14:foregroundMark x1="18164" y1="63477" x2="29492" y2="69336"/>
                          <a14:foregroundMark x1="94141" y1="85547" x2="80664" y2="98438"/>
                          <a14:foregroundMark x1="50391" y1="10938" x2="21875" y2="3516"/>
                          <a14:foregroundMark x1="21875" y1="3516" x2="2734" y2="30273"/>
                          <a14:foregroundMark x1="2734" y1="30273" x2="3516" y2="51758"/>
                          <a14:foregroundMark x1="40820" y1="4492" x2="40820" y2="4492"/>
                          <a14:foregroundMark x1="63281" y1="61133" x2="63281" y2="61133"/>
                          <a14:foregroundMark x1="34375" y1="61133" x2="34375" y2="61133"/>
                          <a14:foregroundMark x1="42969" y1="1953" x2="42969" y2="1953"/>
                          <a14:foregroundMark x1="98828" y1="87695" x2="98828" y2="87695"/>
                          <a14:backgroundMark x1="34961" y1="31836" x2="34961" y2="3183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076413">
              <a:off x="5871225" y="200532"/>
              <a:ext cx="2345771" cy="23457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2" name="Picture 8" descr="Llm Images – Browse 36,700 Stock Photos, Vectors, and Video | Adobe Stock">
            <a:extLst>
              <a:ext uri="{FF2B5EF4-FFF2-40B4-BE49-F238E27FC236}">
                <a16:creationId xmlns:a16="http://schemas.microsoft.com/office/drawing/2014/main" id="{8B9FFB19-FF7C-31A8-E8F2-02B297F62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7453" y="3528671"/>
            <a:ext cx="1426143" cy="106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6" descr="JIRA | Vivantio">
            <a:extLst>
              <a:ext uri="{FF2B5EF4-FFF2-40B4-BE49-F238E27FC236}">
                <a16:creationId xmlns:a16="http://schemas.microsoft.com/office/drawing/2014/main" id="{73EB9766-AF86-E9AF-9E39-9AADDA854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5" t="21453" r="15619" b="21907"/>
          <a:stretch>
            <a:fillRect/>
          </a:stretch>
        </p:blipFill>
        <p:spPr bwMode="auto">
          <a:xfrm>
            <a:off x="5465975" y="2017297"/>
            <a:ext cx="981194" cy="43535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Internet - Free signs icons">
            <a:extLst>
              <a:ext uri="{FF2B5EF4-FFF2-40B4-BE49-F238E27FC236}">
                <a16:creationId xmlns:a16="http://schemas.microsoft.com/office/drawing/2014/main" id="{DF3FC1B9-64F6-4090-4F9C-3B2DE3713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177" y="2795596"/>
            <a:ext cx="691288" cy="717942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87AE544-499B-5F4D-9FC3-89B1F91BCD54}"/>
              </a:ext>
            </a:extLst>
          </p:cNvPr>
          <p:cNvGrpSpPr/>
          <p:nvPr/>
        </p:nvGrpSpPr>
        <p:grpSpPr>
          <a:xfrm>
            <a:off x="6566813" y="4344171"/>
            <a:ext cx="756541" cy="984735"/>
            <a:chOff x="4638116" y="1505139"/>
            <a:chExt cx="770211" cy="1081700"/>
          </a:xfrm>
        </p:grpSpPr>
        <p:pic>
          <p:nvPicPr>
            <p:cNvPr id="13" name="Picture 18" descr="Api - Free seo and web icons">
              <a:extLst>
                <a:ext uri="{FF2B5EF4-FFF2-40B4-BE49-F238E27FC236}">
                  <a16:creationId xmlns:a16="http://schemas.microsoft.com/office/drawing/2014/main" id="{16AB4C31-964F-3B1E-0E38-93C389B19C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7949" y="1827871"/>
              <a:ext cx="758966" cy="75896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A75C77-F85B-10AA-20A4-DE4AAAD9763E}"/>
                </a:ext>
              </a:extLst>
            </p:cNvPr>
            <p:cNvSpPr txBox="1"/>
            <p:nvPr/>
          </p:nvSpPr>
          <p:spPr>
            <a:xfrm>
              <a:off x="4638116" y="1505139"/>
              <a:ext cx="770211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 err="1">
                  <a:solidFill>
                    <a:srgbClr val="FF0000"/>
                  </a:solidFill>
                </a:rPr>
                <a:t>Redhat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5" name="Picture 20" descr="Ssh - Free computer icons">
            <a:extLst>
              <a:ext uri="{FF2B5EF4-FFF2-40B4-BE49-F238E27FC236}">
                <a16:creationId xmlns:a16="http://schemas.microsoft.com/office/drawing/2014/main" id="{73442F75-E192-7B00-B19B-E155EB24A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975" y="5601200"/>
            <a:ext cx="578767" cy="578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70E8223-1098-5D09-95C3-A3F379F89B49}"/>
              </a:ext>
            </a:extLst>
          </p:cNvPr>
          <p:cNvGrpSpPr/>
          <p:nvPr/>
        </p:nvGrpSpPr>
        <p:grpSpPr>
          <a:xfrm>
            <a:off x="2993576" y="1690688"/>
            <a:ext cx="1063752" cy="900351"/>
            <a:chOff x="1732600" y="5891164"/>
            <a:chExt cx="736805" cy="606983"/>
          </a:xfrm>
        </p:grpSpPr>
        <p:pic>
          <p:nvPicPr>
            <p:cNvPr id="16" name="Picture 10" descr="Human Brain Memory Icon Simple Thin Stock Vector (Royalty Free) 1416176372  | Shutterstock">
              <a:extLst>
                <a:ext uri="{FF2B5EF4-FFF2-40B4-BE49-F238E27FC236}">
                  <a16:creationId xmlns:a16="http://schemas.microsoft.com/office/drawing/2014/main" id="{4E9D59BE-0B49-2DB5-B3E0-B524C9EC00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54" t="16071" r="16922" b="20357"/>
            <a:stretch>
              <a:fillRect/>
            </a:stretch>
          </p:blipFill>
          <p:spPr bwMode="auto">
            <a:xfrm>
              <a:off x="1859688" y="5998173"/>
              <a:ext cx="478819" cy="4999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C1E130C-DFC4-06F0-5ABC-B36FBFD6A33A}"/>
                </a:ext>
              </a:extLst>
            </p:cNvPr>
            <p:cNvSpPr txBox="1"/>
            <p:nvPr/>
          </p:nvSpPr>
          <p:spPr>
            <a:xfrm>
              <a:off x="1732600" y="5891164"/>
              <a:ext cx="7368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memory</a:t>
              </a:r>
            </a:p>
          </p:txBody>
        </p:sp>
      </p:grpSp>
      <p:sp>
        <p:nvSpPr>
          <p:cNvPr id="23" name="Arrow: Up-Down 22">
            <a:extLst>
              <a:ext uri="{FF2B5EF4-FFF2-40B4-BE49-F238E27FC236}">
                <a16:creationId xmlns:a16="http://schemas.microsoft.com/office/drawing/2014/main" id="{ACAB0C26-8436-D465-6744-5E6A7B2F42F7}"/>
              </a:ext>
            </a:extLst>
          </p:cNvPr>
          <p:cNvSpPr/>
          <p:nvPr/>
        </p:nvSpPr>
        <p:spPr>
          <a:xfrm rot="1800000">
            <a:off x="5084333" y="2478821"/>
            <a:ext cx="164592" cy="105254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Up-Down 23">
            <a:extLst>
              <a:ext uri="{FF2B5EF4-FFF2-40B4-BE49-F238E27FC236}">
                <a16:creationId xmlns:a16="http://schemas.microsoft.com/office/drawing/2014/main" id="{A8B013A9-A805-8508-40A4-C118A8C251A1}"/>
              </a:ext>
            </a:extLst>
          </p:cNvPr>
          <p:cNvSpPr/>
          <p:nvPr/>
        </p:nvSpPr>
        <p:spPr>
          <a:xfrm rot="3600000">
            <a:off x="5750476" y="3082501"/>
            <a:ext cx="164592" cy="105254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Up-Down 24">
            <a:extLst>
              <a:ext uri="{FF2B5EF4-FFF2-40B4-BE49-F238E27FC236}">
                <a16:creationId xmlns:a16="http://schemas.microsoft.com/office/drawing/2014/main" id="{2D71E91F-A475-E675-8C10-6EBF961DF951}"/>
              </a:ext>
            </a:extLst>
          </p:cNvPr>
          <p:cNvSpPr/>
          <p:nvPr/>
        </p:nvSpPr>
        <p:spPr>
          <a:xfrm rot="6300000">
            <a:off x="5812346" y="3972851"/>
            <a:ext cx="164592" cy="105254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Up-Down 25">
            <a:extLst>
              <a:ext uri="{FF2B5EF4-FFF2-40B4-BE49-F238E27FC236}">
                <a16:creationId xmlns:a16="http://schemas.microsoft.com/office/drawing/2014/main" id="{DDAA89D2-F4CB-5EA0-5CB2-A5855CBE879F}"/>
              </a:ext>
            </a:extLst>
          </p:cNvPr>
          <p:cNvSpPr/>
          <p:nvPr/>
        </p:nvSpPr>
        <p:spPr>
          <a:xfrm rot="9000000">
            <a:off x="5096311" y="4535301"/>
            <a:ext cx="164592" cy="105254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Up-Down 26">
            <a:extLst>
              <a:ext uri="{FF2B5EF4-FFF2-40B4-BE49-F238E27FC236}">
                <a16:creationId xmlns:a16="http://schemas.microsoft.com/office/drawing/2014/main" id="{B41FBDD9-4359-E081-A5C8-62A2BCAA11AB}"/>
              </a:ext>
            </a:extLst>
          </p:cNvPr>
          <p:cNvSpPr/>
          <p:nvPr/>
        </p:nvSpPr>
        <p:spPr>
          <a:xfrm rot="19800000">
            <a:off x="3929482" y="2473906"/>
            <a:ext cx="164592" cy="105254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01F5C46-4BB3-C24F-5695-19C0F3392B0D}"/>
              </a:ext>
            </a:extLst>
          </p:cNvPr>
          <p:cNvGrpSpPr/>
          <p:nvPr/>
        </p:nvGrpSpPr>
        <p:grpSpPr>
          <a:xfrm>
            <a:off x="2886770" y="5246693"/>
            <a:ext cx="790601" cy="1104185"/>
            <a:chOff x="4335974" y="5009127"/>
            <a:chExt cx="790601" cy="1104185"/>
          </a:xfrm>
        </p:grpSpPr>
        <p:pic>
          <p:nvPicPr>
            <p:cNvPr id="1034" name="Picture 10" descr="Classification SBTS2018 Lineal Color icon | Freepik">
              <a:extLst>
                <a:ext uri="{FF2B5EF4-FFF2-40B4-BE49-F238E27FC236}">
                  <a16:creationId xmlns:a16="http://schemas.microsoft.com/office/drawing/2014/main" id="{F23D7539-D6F1-EF0B-2CB4-64FAEBED94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935" b="-4220"/>
            <a:stretch>
              <a:fillRect/>
            </a:stretch>
          </p:blipFill>
          <p:spPr bwMode="auto">
            <a:xfrm rot="16200000">
              <a:off x="4383114" y="4987701"/>
              <a:ext cx="696323" cy="739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72479C6-0E9A-A64D-AF4D-B4942606561B}"/>
                </a:ext>
              </a:extLst>
            </p:cNvPr>
            <p:cNvSpPr txBox="1"/>
            <p:nvPr/>
          </p:nvSpPr>
          <p:spPr>
            <a:xfrm>
              <a:off x="4335974" y="5651647"/>
              <a:ext cx="7906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Intent</a:t>
              </a:r>
            </a:p>
            <a:p>
              <a:pPr algn="ctr"/>
              <a:r>
                <a:rPr lang="en-US" sz="1200" dirty="0"/>
                <a:t>classifier</a:t>
              </a:r>
            </a:p>
          </p:txBody>
        </p:sp>
      </p:grpSp>
      <p:sp>
        <p:nvSpPr>
          <p:cNvPr id="30" name="Arrow: Up-Down 29">
            <a:extLst>
              <a:ext uri="{FF2B5EF4-FFF2-40B4-BE49-F238E27FC236}">
                <a16:creationId xmlns:a16="http://schemas.microsoft.com/office/drawing/2014/main" id="{B2E4C9BB-0B4E-1268-4819-8F63FE703224}"/>
              </a:ext>
            </a:extLst>
          </p:cNvPr>
          <p:cNvSpPr/>
          <p:nvPr/>
        </p:nvSpPr>
        <p:spPr>
          <a:xfrm rot="1800000">
            <a:off x="3993230" y="4568919"/>
            <a:ext cx="164592" cy="105254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Up-Down 30">
            <a:extLst>
              <a:ext uri="{FF2B5EF4-FFF2-40B4-BE49-F238E27FC236}">
                <a16:creationId xmlns:a16="http://schemas.microsoft.com/office/drawing/2014/main" id="{2EF16944-2B02-B9C3-9FCE-1548C602F960}"/>
              </a:ext>
            </a:extLst>
          </p:cNvPr>
          <p:cNvSpPr/>
          <p:nvPr/>
        </p:nvSpPr>
        <p:spPr>
          <a:xfrm rot="7200000">
            <a:off x="3234470" y="3082500"/>
            <a:ext cx="164592" cy="105254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D20A13-D1E1-EED5-77A6-6DAC21DEA85E}"/>
              </a:ext>
            </a:extLst>
          </p:cNvPr>
          <p:cNvGrpSpPr/>
          <p:nvPr/>
        </p:nvGrpSpPr>
        <p:grpSpPr>
          <a:xfrm>
            <a:off x="1754421" y="2425579"/>
            <a:ext cx="1040722" cy="1143073"/>
            <a:chOff x="1754421" y="2425579"/>
            <a:chExt cx="1040722" cy="1143073"/>
          </a:xfrm>
        </p:grpSpPr>
        <p:pic>
          <p:nvPicPr>
            <p:cNvPr id="1040" name="Picture 16" descr="Graph Database Png Transparent PNG - 600x590 - Free Download on NicePNG">
              <a:extLst>
                <a:ext uri="{FF2B5EF4-FFF2-40B4-BE49-F238E27FC236}">
                  <a16:creationId xmlns:a16="http://schemas.microsoft.com/office/drawing/2014/main" id="{AE1336D7-5E56-488C-FF96-4AD3455904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4421" y="2425579"/>
              <a:ext cx="1040722" cy="850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1070D6A-EE34-7D43-0A04-911B211C4D57}"/>
                </a:ext>
              </a:extLst>
            </p:cNvPr>
            <p:cNvSpPr txBox="1"/>
            <p:nvPr/>
          </p:nvSpPr>
          <p:spPr>
            <a:xfrm>
              <a:off x="1878553" y="3291653"/>
              <a:ext cx="7924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err="1"/>
                <a:t>GraphDB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82744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Dashboard Tableau Software Data visualization Infographic Information,  infographic, text png | PNGEgg">
            <a:extLst>
              <a:ext uri="{FF2B5EF4-FFF2-40B4-BE49-F238E27FC236}">
                <a16:creationId xmlns:a16="http://schemas.microsoft.com/office/drawing/2014/main" id="{BA4FD72C-83CE-8BBD-6255-626BAE50B5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21" t="17212" r="26296" b="18632"/>
          <a:stretch>
            <a:fillRect/>
          </a:stretch>
        </p:blipFill>
        <p:spPr bwMode="auto">
          <a:xfrm>
            <a:off x="446732" y="3124509"/>
            <a:ext cx="769859" cy="59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147EA09-8620-07C4-DCE3-5C6160DCC4D0}"/>
              </a:ext>
            </a:extLst>
          </p:cNvPr>
          <p:cNvGrpSpPr/>
          <p:nvPr/>
        </p:nvGrpSpPr>
        <p:grpSpPr>
          <a:xfrm>
            <a:off x="2287898" y="1885679"/>
            <a:ext cx="616751" cy="3118432"/>
            <a:chOff x="2462423" y="2036041"/>
            <a:chExt cx="616751" cy="3118432"/>
          </a:xfrm>
        </p:grpSpPr>
        <p:pic>
          <p:nvPicPr>
            <p:cNvPr id="6" name="Picture 14" descr="Vulnerability Generic color outline icon | Freepik">
              <a:extLst>
                <a:ext uri="{FF2B5EF4-FFF2-40B4-BE49-F238E27FC236}">
                  <a16:creationId xmlns:a16="http://schemas.microsoft.com/office/drawing/2014/main" id="{2F272BF0-8611-2F8A-3042-926C560B1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2423" y="3274871"/>
              <a:ext cx="598056" cy="598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4" descr="Vulnerability Generic color outline icon | Freepik">
              <a:extLst>
                <a:ext uri="{FF2B5EF4-FFF2-40B4-BE49-F238E27FC236}">
                  <a16:creationId xmlns:a16="http://schemas.microsoft.com/office/drawing/2014/main" id="{842818ED-90AD-F89B-F2EA-1AE20330C5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1118" y="2634097"/>
              <a:ext cx="598056" cy="598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4" descr="Vulnerability Generic color outline icon | Freepik">
              <a:extLst>
                <a:ext uri="{FF2B5EF4-FFF2-40B4-BE49-F238E27FC236}">
                  <a16:creationId xmlns:a16="http://schemas.microsoft.com/office/drawing/2014/main" id="{27A98A63-C515-C484-61D6-6816675B6B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2423" y="2036041"/>
              <a:ext cx="598056" cy="598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4" descr="Vulnerability Generic color outline icon | Freepik">
              <a:extLst>
                <a:ext uri="{FF2B5EF4-FFF2-40B4-BE49-F238E27FC236}">
                  <a16:creationId xmlns:a16="http://schemas.microsoft.com/office/drawing/2014/main" id="{D82BC25D-91CB-48DC-077C-C81B47D5AA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2423" y="3915644"/>
              <a:ext cx="598056" cy="598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4" descr="Vulnerability Generic color outline icon | Freepik">
              <a:extLst>
                <a:ext uri="{FF2B5EF4-FFF2-40B4-BE49-F238E27FC236}">
                  <a16:creationId xmlns:a16="http://schemas.microsoft.com/office/drawing/2014/main" id="{61BF5C25-57E7-2097-583A-87855E8893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2423" y="4556417"/>
              <a:ext cx="598056" cy="598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A8A451B-0160-1FEE-309E-31316D67E9C1}"/>
              </a:ext>
            </a:extLst>
          </p:cNvPr>
          <p:cNvSpPr/>
          <p:nvPr/>
        </p:nvSpPr>
        <p:spPr>
          <a:xfrm>
            <a:off x="1437686" y="3318475"/>
            <a:ext cx="598056" cy="1726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C93C364-C4BE-3BF3-C8F5-8B401DC1D7E2}"/>
              </a:ext>
            </a:extLst>
          </p:cNvPr>
          <p:cNvSpPr/>
          <p:nvPr/>
        </p:nvSpPr>
        <p:spPr>
          <a:xfrm>
            <a:off x="3291998" y="3318474"/>
            <a:ext cx="1855445" cy="1726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6082BDB3-49D7-66A6-5FEC-9F8C1AB89658}"/>
              </a:ext>
            </a:extLst>
          </p:cNvPr>
          <p:cNvSpPr/>
          <p:nvPr/>
        </p:nvSpPr>
        <p:spPr>
          <a:xfrm rot="16200000">
            <a:off x="5290840" y="2411872"/>
            <a:ext cx="683491" cy="16048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AD5968A-49B3-5D10-6F2C-D2FAD9918743}"/>
              </a:ext>
            </a:extLst>
          </p:cNvPr>
          <p:cNvSpPr/>
          <p:nvPr/>
        </p:nvSpPr>
        <p:spPr>
          <a:xfrm>
            <a:off x="6309607" y="3300186"/>
            <a:ext cx="1682374" cy="1908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22B443-9A05-C64B-9780-6222C3F844A8}"/>
              </a:ext>
            </a:extLst>
          </p:cNvPr>
          <p:cNvSpPr txBox="1"/>
          <p:nvPr/>
        </p:nvSpPr>
        <p:spPr>
          <a:xfrm>
            <a:off x="5685117" y="2322836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ssh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A689F4F-D337-496F-6847-B9485F11B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SHIRE MVP</a:t>
            </a:r>
          </a:p>
        </p:txBody>
      </p:sp>
      <p:pic>
        <p:nvPicPr>
          <p:cNvPr id="26" name="Picture 2" descr="🤖 AI Agents vs Agentic AI: The Mind-Blowing Difference That Will Change  Everything | by MahendraMedapati | Towards AI">
            <a:extLst>
              <a:ext uri="{FF2B5EF4-FFF2-40B4-BE49-F238E27FC236}">
                <a16:creationId xmlns:a16="http://schemas.microsoft.com/office/drawing/2014/main" id="{AB42064B-F464-EF6A-ECF5-9C1A608057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94" t="5052" r="2724" b="24200"/>
          <a:stretch>
            <a:fillRect/>
          </a:stretch>
        </p:blipFill>
        <p:spPr bwMode="auto">
          <a:xfrm>
            <a:off x="5300133" y="4451930"/>
            <a:ext cx="727016" cy="767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C3C66716-0D87-7A80-B986-2B09061A87DE}"/>
              </a:ext>
            </a:extLst>
          </p:cNvPr>
          <p:cNvGrpSpPr/>
          <p:nvPr/>
        </p:nvGrpSpPr>
        <p:grpSpPr>
          <a:xfrm>
            <a:off x="6459958" y="5617075"/>
            <a:ext cx="3271517" cy="1107996"/>
            <a:chOff x="4762964" y="5166779"/>
            <a:chExt cx="3271517" cy="110799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9DD5A06-F7E7-9458-F4F4-DB55F9D15358}"/>
                </a:ext>
              </a:extLst>
            </p:cNvPr>
            <p:cNvSpPr txBox="1"/>
            <p:nvPr/>
          </p:nvSpPr>
          <p:spPr>
            <a:xfrm>
              <a:off x="5263572" y="5166779"/>
              <a:ext cx="2770909" cy="11079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91440" indent="-9144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VM (OS, app directory, file structure, libraries installed, and others)</a:t>
              </a:r>
            </a:p>
            <a:p>
              <a:pPr marL="91440" indent="-9144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Vulnerability (Vuln ID, CVE details, how to fix, previous resolution knowledge, resolution steps from internal tool)</a:t>
              </a:r>
            </a:p>
          </p:txBody>
        </p:sp>
        <p:pic>
          <p:nvPicPr>
            <p:cNvPr id="31" name="Picture 6" descr="Document Icon PNG Transparent Background, Free Download #36546 -  FreeIconsPNG">
              <a:extLst>
                <a:ext uri="{FF2B5EF4-FFF2-40B4-BE49-F238E27FC236}">
                  <a16:creationId xmlns:a16="http://schemas.microsoft.com/office/drawing/2014/main" id="{2ADF07B8-BEF5-D955-5FA1-E9390D99DE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2964" y="5174267"/>
              <a:ext cx="491372" cy="49137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Arrow: Left-Right 31">
            <a:extLst>
              <a:ext uri="{FF2B5EF4-FFF2-40B4-BE49-F238E27FC236}">
                <a16:creationId xmlns:a16="http://schemas.microsoft.com/office/drawing/2014/main" id="{3CF6EE2F-97A2-FA0A-8C27-62B0CD6EDDB0}"/>
              </a:ext>
            </a:extLst>
          </p:cNvPr>
          <p:cNvSpPr/>
          <p:nvPr/>
        </p:nvSpPr>
        <p:spPr>
          <a:xfrm rot="18900000">
            <a:off x="5009783" y="5508056"/>
            <a:ext cx="683491" cy="16048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Left-Right 32">
            <a:extLst>
              <a:ext uri="{FF2B5EF4-FFF2-40B4-BE49-F238E27FC236}">
                <a16:creationId xmlns:a16="http://schemas.microsoft.com/office/drawing/2014/main" id="{CB5DC2E2-1B01-9EC5-3629-2A40A7682593}"/>
              </a:ext>
            </a:extLst>
          </p:cNvPr>
          <p:cNvSpPr/>
          <p:nvPr/>
        </p:nvSpPr>
        <p:spPr>
          <a:xfrm rot="2700000">
            <a:off x="5669471" y="5508056"/>
            <a:ext cx="683491" cy="16048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6B15F3C-9202-ECEB-5123-06BDD183B71E}"/>
              </a:ext>
            </a:extLst>
          </p:cNvPr>
          <p:cNvGrpSpPr/>
          <p:nvPr/>
        </p:nvGrpSpPr>
        <p:grpSpPr>
          <a:xfrm>
            <a:off x="5130098" y="1107559"/>
            <a:ext cx="1012862" cy="915230"/>
            <a:chOff x="1939637" y="2144314"/>
            <a:chExt cx="1012862" cy="915230"/>
          </a:xfrm>
        </p:grpSpPr>
        <p:pic>
          <p:nvPicPr>
            <p:cNvPr id="35" name="Picture 6">
              <a:extLst>
                <a:ext uri="{FF2B5EF4-FFF2-40B4-BE49-F238E27FC236}">
                  <a16:creationId xmlns:a16="http://schemas.microsoft.com/office/drawing/2014/main" id="{52AAC599-1952-60D0-C5FE-52CADBBE88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939637" y="2376053"/>
              <a:ext cx="683491" cy="6834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8" descr="Vulnerability Generic color outline icon | Freepik">
              <a:extLst>
                <a:ext uri="{FF2B5EF4-FFF2-40B4-BE49-F238E27FC236}">
                  <a16:creationId xmlns:a16="http://schemas.microsoft.com/office/drawing/2014/main" id="{EBDD3974-EA6A-FC5D-486B-931F18CCD6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rgbClr val="FF000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4443" y="2144314"/>
              <a:ext cx="598056" cy="598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E51E9E6-6317-10DD-3E2E-20A6A8264183}"/>
              </a:ext>
            </a:extLst>
          </p:cNvPr>
          <p:cNvGrpSpPr/>
          <p:nvPr/>
        </p:nvGrpSpPr>
        <p:grpSpPr>
          <a:xfrm>
            <a:off x="9498015" y="97488"/>
            <a:ext cx="2654361" cy="1766089"/>
            <a:chOff x="9014047" y="4483958"/>
            <a:chExt cx="3316319" cy="220652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250767-4BA7-0C3C-252E-5B71610732A6}"/>
                </a:ext>
              </a:extLst>
            </p:cNvPr>
            <p:cNvSpPr txBox="1"/>
            <p:nvPr/>
          </p:nvSpPr>
          <p:spPr>
            <a:xfrm>
              <a:off x="9525529" y="4517823"/>
              <a:ext cx="2804837" cy="384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 SHIRE Agentic AI solution</a:t>
              </a:r>
            </a:p>
          </p:txBody>
        </p:sp>
        <p:pic>
          <p:nvPicPr>
            <p:cNvPr id="18" name="Picture 14" descr="Vulnerability Generic color outline icon | Freepik">
              <a:extLst>
                <a:ext uri="{FF2B5EF4-FFF2-40B4-BE49-F238E27FC236}">
                  <a16:creationId xmlns:a16="http://schemas.microsoft.com/office/drawing/2014/main" id="{BBAC1D89-0756-72A4-8209-6B18276BE8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50991" y="4973643"/>
              <a:ext cx="354229" cy="3542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A52C75E-344B-48C2-EC62-56C6E140EBCA}"/>
                </a:ext>
              </a:extLst>
            </p:cNvPr>
            <p:cNvSpPr txBox="1"/>
            <p:nvPr/>
          </p:nvSpPr>
          <p:spPr>
            <a:xfrm>
              <a:off x="9534764" y="4965199"/>
              <a:ext cx="1559035" cy="384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 Vulnerability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68408DB-A3FA-AA53-AC45-5CDD4E705C14}"/>
                </a:ext>
              </a:extLst>
            </p:cNvPr>
            <p:cNvSpPr txBox="1"/>
            <p:nvPr/>
          </p:nvSpPr>
          <p:spPr>
            <a:xfrm>
              <a:off x="9529215" y="5382223"/>
              <a:ext cx="2007015" cy="384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 Live VM with vuln</a:t>
              </a:r>
            </a:p>
          </p:txBody>
        </p:sp>
        <p:pic>
          <p:nvPicPr>
            <p:cNvPr id="21" name="Picture 12" descr="Dashboard Tableau Software Data visualization Infographic Information,  infographic, text png | PNGEgg">
              <a:extLst>
                <a:ext uri="{FF2B5EF4-FFF2-40B4-BE49-F238E27FC236}">
                  <a16:creationId xmlns:a16="http://schemas.microsoft.com/office/drawing/2014/main" id="{BABAF688-270C-B7BF-E672-9AC0BD1D81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721" t="17212" r="26296" b="18632"/>
            <a:stretch>
              <a:fillRect/>
            </a:stretch>
          </p:blipFill>
          <p:spPr bwMode="auto">
            <a:xfrm>
              <a:off x="9014047" y="5807613"/>
              <a:ext cx="491372" cy="3817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4F3B0EB-AEF4-D48D-01B2-C97B81E39D99}"/>
                </a:ext>
              </a:extLst>
            </p:cNvPr>
            <p:cNvSpPr txBox="1"/>
            <p:nvPr/>
          </p:nvSpPr>
          <p:spPr>
            <a:xfrm>
              <a:off x="9534764" y="5826085"/>
              <a:ext cx="2205528" cy="384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 Tableau dashboard</a:t>
              </a:r>
            </a:p>
          </p:txBody>
        </p:sp>
        <p:pic>
          <p:nvPicPr>
            <p:cNvPr id="23" name="Picture 4" descr="Developer - Free computer icons">
              <a:extLst>
                <a:ext uri="{FF2B5EF4-FFF2-40B4-BE49-F238E27FC236}">
                  <a16:creationId xmlns:a16="http://schemas.microsoft.com/office/drawing/2014/main" id="{B7956BDD-0F0D-BB9E-F548-E0D576D516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71335" y="6252979"/>
              <a:ext cx="435490" cy="435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2095C97-9F83-5D13-6953-4020BC7C5913}"/>
                </a:ext>
              </a:extLst>
            </p:cNvPr>
            <p:cNvSpPr txBox="1"/>
            <p:nvPr/>
          </p:nvSpPr>
          <p:spPr>
            <a:xfrm>
              <a:off x="9544001" y="6305951"/>
              <a:ext cx="1343857" cy="384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 Developer</a:t>
              </a:r>
            </a:p>
          </p:txBody>
        </p:sp>
        <p:pic>
          <p:nvPicPr>
            <p:cNvPr id="27" name="Picture 2" descr="🤖 AI Agents vs Agentic AI: The Mind-Blowing Difference That Will Change  Everything | by MahendraMedapati | Towards AI">
              <a:extLst>
                <a:ext uri="{FF2B5EF4-FFF2-40B4-BE49-F238E27FC236}">
                  <a16:creationId xmlns:a16="http://schemas.microsoft.com/office/drawing/2014/main" id="{76C9A478-6DAD-70DC-9CC7-9BBEB26049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94" t="5052" r="2724" b="24200"/>
            <a:stretch>
              <a:fillRect/>
            </a:stretch>
          </p:blipFill>
          <p:spPr bwMode="auto">
            <a:xfrm>
              <a:off x="9020207" y="4483958"/>
              <a:ext cx="385013" cy="406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C8FEBA3-3EBD-2063-540D-11619A53F76E}"/>
                </a:ext>
              </a:extLst>
            </p:cNvPr>
            <p:cNvGrpSpPr/>
            <p:nvPr/>
          </p:nvGrpSpPr>
          <p:grpSpPr>
            <a:xfrm>
              <a:off x="9017653" y="5308933"/>
              <a:ext cx="511003" cy="448472"/>
              <a:chOff x="1939637" y="2162602"/>
              <a:chExt cx="1022006" cy="896944"/>
            </a:xfrm>
          </p:grpSpPr>
          <p:pic>
            <p:nvPicPr>
              <p:cNvPr id="38" name="Picture 6">
                <a:extLst>
                  <a:ext uri="{FF2B5EF4-FFF2-40B4-BE49-F238E27FC236}">
                    <a16:creationId xmlns:a16="http://schemas.microsoft.com/office/drawing/2014/main" id="{831AE3A2-4EE7-9DCE-D4CA-74B65711D6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1939637" y="2376054"/>
                <a:ext cx="683492" cy="6834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" name="Picture 8" descr="Vulnerability Generic color outline icon | Freepik">
                <a:extLst>
                  <a:ext uri="{FF2B5EF4-FFF2-40B4-BE49-F238E27FC236}">
                    <a16:creationId xmlns:a16="http://schemas.microsoft.com/office/drawing/2014/main" id="{9116618D-374E-D446-F08F-1665E46E5E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63587" y="2162602"/>
                <a:ext cx="598056" cy="5980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40" name="Picture 6">
            <a:extLst>
              <a:ext uri="{FF2B5EF4-FFF2-40B4-BE49-F238E27FC236}">
                <a16:creationId xmlns:a16="http://schemas.microsoft.com/office/drawing/2014/main" id="{F8816B26-0EF3-23A4-6EF5-A84A67359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47017" y="2995302"/>
            <a:ext cx="683491" cy="68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FCCE1415-0B6F-93C1-D6CA-0F59DD26B4A3}"/>
              </a:ext>
            </a:extLst>
          </p:cNvPr>
          <p:cNvGrpSpPr/>
          <p:nvPr/>
        </p:nvGrpSpPr>
        <p:grpSpPr>
          <a:xfrm>
            <a:off x="4282529" y="5650942"/>
            <a:ext cx="879793" cy="911816"/>
            <a:chOff x="3465037" y="5172575"/>
            <a:chExt cx="879793" cy="911816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5A7C9CD-3561-23E0-6C0B-A3084087D9C3}"/>
                </a:ext>
              </a:extLst>
            </p:cNvPr>
            <p:cNvGrpSpPr/>
            <p:nvPr/>
          </p:nvGrpSpPr>
          <p:grpSpPr>
            <a:xfrm>
              <a:off x="3545173" y="5172575"/>
              <a:ext cx="674943" cy="684242"/>
              <a:chOff x="3545173" y="5172575"/>
              <a:chExt cx="674943" cy="684242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A01CE1E7-E30E-F8B5-BFAA-4DD46243EAF2}"/>
                  </a:ext>
                </a:extLst>
              </p:cNvPr>
              <p:cNvGrpSpPr/>
              <p:nvPr/>
            </p:nvGrpSpPr>
            <p:grpSpPr>
              <a:xfrm>
                <a:off x="3545173" y="5172575"/>
                <a:ext cx="491330" cy="491330"/>
                <a:chOff x="2912151" y="653585"/>
                <a:chExt cx="4695656" cy="4695655"/>
              </a:xfrm>
            </p:grpSpPr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C460037A-1CE1-C411-48CF-F0F1F5A7C93C}"/>
                    </a:ext>
                  </a:extLst>
                </p:cNvPr>
                <p:cNvSpPr/>
                <p:nvPr/>
              </p:nvSpPr>
              <p:spPr>
                <a:xfrm>
                  <a:off x="2912152" y="667016"/>
                  <a:ext cx="4695655" cy="46822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5" name="Picture 2" descr="CVE Icons - Free SVG &amp; PNG CVE Images - Noun Project">
                  <a:extLst>
                    <a:ext uri="{FF2B5EF4-FFF2-40B4-BE49-F238E27FC236}">
                      <a16:creationId xmlns:a16="http://schemas.microsoft.com/office/drawing/2014/main" id="{31B40560-5DC6-E240-B805-6DAC54D1CA4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12151" y="653585"/>
                  <a:ext cx="4695655" cy="46956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0A2BC0E5-E770-B097-842B-7863427DD46B}"/>
                  </a:ext>
                </a:extLst>
              </p:cNvPr>
              <p:cNvGrpSpPr/>
              <p:nvPr/>
            </p:nvGrpSpPr>
            <p:grpSpPr>
              <a:xfrm>
                <a:off x="3633354" y="5269031"/>
                <a:ext cx="491330" cy="491330"/>
                <a:chOff x="2912151" y="653585"/>
                <a:chExt cx="4695656" cy="4695655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B212D55-9C8B-6919-40F1-00DCE5AB8183}"/>
                    </a:ext>
                  </a:extLst>
                </p:cNvPr>
                <p:cNvSpPr/>
                <p:nvPr/>
              </p:nvSpPr>
              <p:spPr>
                <a:xfrm>
                  <a:off x="2912152" y="667016"/>
                  <a:ext cx="4695655" cy="46822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8" name="Picture 2" descr="CVE Icons - Free SVG &amp; PNG CVE Images - Noun Project">
                  <a:extLst>
                    <a:ext uri="{FF2B5EF4-FFF2-40B4-BE49-F238E27FC236}">
                      <a16:creationId xmlns:a16="http://schemas.microsoft.com/office/drawing/2014/main" id="{32B9E30B-DC22-E7FD-EEF1-FFDE3F15CBA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12151" y="653585"/>
                  <a:ext cx="4695655" cy="46956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E5BE1E82-7B6E-0B16-F4D7-A8D2234926E3}"/>
                  </a:ext>
                </a:extLst>
              </p:cNvPr>
              <p:cNvGrpSpPr/>
              <p:nvPr/>
            </p:nvGrpSpPr>
            <p:grpSpPr>
              <a:xfrm>
                <a:off x="3728786" y="5365487"/>
                <a:ext cx="491330" cy="491330"/>
                <a:chOff x="2912151" y="653585"/>
                <a:chExt cx="4695656" cy="4695655"/>
              </a:xfrm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EA308215-91A1-8B5E-01AD-65AB7596910A}"/>
                    </a:ext>
                  </a:extLst>
                </p:cNvPr>
                <p:cNvSpPr/>
                <p:nvPr/>
              </p:nvSpPr>
              <p:spPr>
                <a:xfrm>
                  <a:off x="2912152" y="667016"/>
                  <a:ext cx="4695655" cy="46822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51" name="Picture 2" descr="CVE Icons - Free SVG &amp; PNG CVE Images - Noun Project">
                  <a:extLst>
                    <a:ext uri="{FF2B5EF4-FFF2-40B4-BE49-F238E27FC236}">
                      <a16:creationId xmlns:a16="http://schemas.microsoft.com/office/drawing/2014/main" id="{102BFE23-4588-758E-FA04-A72BE57A118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12151" y="653585"/>
                  <a:ext cx="4695655" cy="46956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B7B4738-A96D-9403-D116-F13B1377C867}"/>
                </a:ext>
              </a:extLst>
            </p:cNvPr>
            <p:cNvSpPr txBox="1"/>
            <p:nvPr/>
          </p:nvSpPr>
          <p:spPr>
            <a:xfrm>
              <a:off x="3465037" y="5776614"/>
              <a:ext cx="8797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Local DB</a:t>
              </a:r>
            </a:p>
          </p:txBody>
        </p:sp>
      </p:grpSp>
      <p:pic>
        <p:nvPicPr>
          <p:cNvPr id="57" name="Picture 4" descr="Developer - Free computer icons">
            <a:extLst>
              <a:ext uri="{FF2B5EF4-FFF2-40B4-BE49-F238E27FC236}">
                <a16:creationId xmlns:a16="http://schemas.microsoft.com/office/drawing/2014/main" id="{F5AE6904-59A1-BDEE-FCBF-81FBE9568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1080" y="2995302"/>
            <a:ext cx="683491" cy="68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Arrow: Up-Down 57">
            <a:extLst>
              <a:ext uri="{FF2B5EF4-FFF2-40B4-BE49-F238E27FC236}">
                <a16:creationId xmlns:a16="http://schemas.microsoft.com/office/drawing/2014/main" id="{F6A2639D-92C1-9953-267A-FDF6D189924E}"/>
              </a:ext>
            </a:extLst>
          </p:cNvPr>
          <p:cNvSpPr/>
          <p:nvPr/>
        </p:nvSpPr>
        <p:spPr>
          <a:xfrm>
            <a:off x="5571391" y="3876036"/>
            <a:ext cx="184501" cy="430771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9117182-9D44-454F-E732-945C2E3300F1}"/>
              </a:ext>
            </a:extLst>
          </p:cNvPr>
          <p:cNvSpPr txBox="1"/>
          <p:nvPr/>
        </p:nvSpPr>
        <p:spPr>
          <a:xfrm>
            <a:off x="5823923" y="3880037"/>
            <a:ext cx="8402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C000"/>
                </a:solidFill>
              </a:rPr>
              <a:t>copilot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B518430-108B-FF24-F1D0-23AC783648C9}"/>
              </a:ext>
            </a:extLst>
          </p:cNvPr>
          <p:cNvSpPr/>
          <p:nvPr/>
        </p:nvSpPr>
        <p:spPr>
          <a:xfrm>
            <a:off x="3996552" y="5388438"/>
            <a:ext cx="1340157" cy="132554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AAF993C-EDCB-7F02-7B61-AC7B796D0A49}"/>
              </a:ext>
            </a:extLst>
          </p:cNvPr>
          <p:cNvSpPr/>
          <p:nvPr/>
        </p:nvSpPr>
        <p:spPr>
          <a:xfrm>
            <a:off x="6354226" y="5423759"/>
            <a:ext cx="3518792" cy="1325563"/>
          </a:xfrm>
          <a:prstGeom prst="roundRect">
            <a:avLst/>
          </a:prstGeom>
          <a:noFill/>
          <a:ln w="381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0AC2EB-8397-B0FD-5CBA-912627AF255D}"/>
              </a:ext>
            </a:extLst>
          </p:cNvPr>
          <p:cNvSpPr txBox="1"/>
          <p:nvPr/>
        </p:nvSpPr>
        <p:spPr>
          <a:xfrm>
            <a:off x="2616870" y="6398411"/>
            <a:ext cx="1382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be added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D2BC58-65D2-77E8-B89C-06057E71BAD4}"/>
              </a:ext>
            </a:extLst>
          </p:cNvPr>
          <p:cNvSpPr txBox="1"/>
          <p:nvPr/>
        </p:nvSpPr>
        <p:spPr>
          <a:xfrm>
            <a:off x="9872589" y="6424768"/>
            <a:ext cx="1213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input</a:t>
            </a:r>
          </a:p>
        </p:txBody>
      </p:sp>
    </p:spTree>
    <p:extLst>
      <p:ext uri="{BB962C8B-B14F-4D97-AF65-F5344CB8AC3E}">
        <p14:creationId xmlns:p14="http://schemas.microsoft.com/office/powerpoint/2010/main" val="1413934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7F678-F5F3-A1B3-D501-27D5348A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20" y="1122363"/>
            <a:ext cx="32004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Core Elements</a:t>
            </a:r>
          </a:p>
        </p:txBody>
      </p:sp>
      <p:pic>
        <p:nvPicPr>
          <p:cNvPr id="10" name="Picture 8" descr="Llm Images – Browse 36,700 Stock Photos, Vectors, and Video | Adobe Stock">
            <a:extLst>
              <a:ext uri="{FF2B5EF4-FFF2-40B4-BE49-F238E27FC236}">
                <a16:creationId xmlns:a16="http://schemas.microsoft.com/office/drawing/2014/main" id="{FE2125F8-2C87-6335-197B-200F1D976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06166" y="2358573"/>
            <a:ext cx="1254165" cy="94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034BB4-8B50-4484-85C4-0CE469928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0662" y="0"/>
            <a:ext cx="0" cy="6858000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B200F7-B57A-4824-BB91-B6624450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2228770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902062F-7F47-41E5-8574-2D1492D58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0661" y="3429000"/>
            <a:ext cx="466344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A92245C-961F-47D5-9691-272D28692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4568202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B6ABFC91-3DCA-3094-8113-E4C78F0C9782}"/>
              </a:ext>
            </a:extLst>
          </p:cNvPr>
          <p:cNvGrpSpPr/>
          <p:nvPr/>
        </p:nvGrpSpPr>
        <p:grpSpPr>
          <a:xfrm>
            <a:off x="4810397" y="159053"/>
            <a:ext cx="830164" cy="962124"/>
            <a:chOff x="1830614" y="5998171"/>
            <a:chExt cx="536966" cy="605712"/>
          </a:xfrm>
        </p:grpSpPr>
        <p:pic>
          <p:nvPicPr>
            <p:cNvPr id="5" name="Picture 10" descr="Human Brain Memory Icon Simple Thin Stock Vector (Royalty Free) 1416176372  | Shutterstock">
              <a:extLst>
                <a:ext uri="{FF2B5EF4-FFF2-40B4-BE49-F238E27FC236}">
                  <a16:creationId xmlns:a16="http://schemas.microsoft.com/office/drawing/2014/main" id="{F8739EF9-427A-C066-BA73-7D3369EB0C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54" t="16071" r="16922" b="20357"/>
            <a:stretch>
              <a:fillRect/>
            </a:stretch>
          </p:blipFill>
          <p:spPr bwMode="auto">
            <a:xfrm>
              <a:off x="1859688" y="5998171"/>
              <a:ext cx="478819" cy="4999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508B37-9236-24FB-C7F3-18D3EE0ACD90}"/>
                </a:ext>
              </a:extLst>
            </p:cNvPr>
            <p:cNvSpPr txBox="1"/>
            <p:nvPr/>
          </p:nvSpPr>
          <p:spPr>
            <a:xfrm>
              <a:off x="1830614" y="6410120"/>
              <a:ext cx="536966" cy="1937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554480">
                <a:spcAft>
                  <a:spcPts val="600"/>
                </a:spcAft>
              </a:pPr>
              <a:r>
                <a: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memory</a:t>
              </a:r>
              <a:endParaRPr lang="en-US" sz="9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D6B3ED1-B6DE-F39B-7BB1-A76063F70CDA}"/>
              </a:ext>
            </a:extLst>
          </p:cNvPr>
          <p:cNvGrpSpPr/>
          <p:nvPr/>
        </p:nvGrpSpPr>
        <p:grpSpPr>
          <a:xfrm>
            <a:off x="4780485" y="4824680"/>
            <a:ext cx="889987" cy="1077021"/>
            <a:chOff x="4214993" y="5009127"/>
            <a:chExt cx="1032563" cy="1249560"/>
          </a:xfrm>
        </p:grpSpPr>
        <p:pic>
          <p:nvPicPr>
            <p:cNvPr id="8" name="Picture 10" descr="Classification SBTS2018 Lineal Color icon | Freepik">
              <a:extLst>
                <a:ext uri="{FF2B5EF4-FFF2-40B4-BE49-F238E27FC236}">
                  <a16:creationId xmlns:a16="http://schemas.microsoft.com/office/drawing/2014/main" id="{8058ED48-8CFD-4AED-5EB4-5726A0C6F9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935" b="-4220"/>
            <a:stretch>
              <a:fillRect/>
            </a:stretch>
          </p:blipFill>
          <p:spPr bwMode="auto">
            <a:xfrm rot="16200000">
              <a:off x="4383114" y="4987701"/>
              <a:ext cx="696323" cy="739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27BEF75-37C7-578D-66AA-E787B853CD47}"/>
                </a:ext>
              </a:extLst>
            </p:cNvPr>
            <p:cNvSpPr txBox="1"/>
            <p:nvPr/>
          </p:nvSpPr>
          <p:spPr>
            <a:xfrm>
              <a:off x="4214993" y="5651647"/>
              <a:ext cx="1032563" cy="6070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1271016">
                <a:spcAft>
                  <a:spcPts val="600"/>
                </a:spcAft>
              </a:pPr>
              <a:r>
                <a: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Intent</a:t>
              </a:r>
              <a:br>
                <a:rPr lang="en-US" sz="1400" dirty="0"/>
              </a:br>
              <a:r>
                <a: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classifier</a:t>
              </a:r>
              <a:endParaRPr lang="en-US" sz="105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35B93B9-FE49-0AD3-EC0C-0290CC12B1AE}"/>
              </a:ext>
            </a:extLst>
          </p:cNvPr>
          <p:cNvGrpSpPr/>
          <p:nvPr/>
        </p:nvGrpSpPr>
        <p:grpSpPr>
          <a:xfrm>
            <a:off x="7852229" y="367909"/>
            <a:ext cx="771688" cy="852762"/>
            <a:chOff x="3465037" y="5172575"/>
            <a:chExt cx="799807" cy="88383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670FA2E-0650-A022-BD10-62446937C8F3}"/>
                </a:ext>
              </a:extLst>
            </p:cNvPr>
            <p:cNvGrpSpPr/>
            <p:nvPr/>
          </p:nvGrpSpPr>
          <p:grpSpPr>
            <a:xfrm>
              <a:off x="3545173" y="5172575"/>
              <a:ext cx="674943" cy="684242"/>
              <a:chOff x="3545173" y="5172575"/>
              <a:chExt cx="674943" cy="68424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7400C8B-BE48-08DF-861D-02E9FBD2D822}"/>
                  </a:ext>
                </a:extLst>
              </p:cNvPr>
              <p:cNvGrpSpPr/>
              <p:nvPr/>
            </p:nvGrpSpPr>
            <p:grpSpPr>
              <a:xfrm>
                <a:off x="3545173" y="5172575"/>
                <a:ext cx="491330" cy="491330"/>
                <a:chOff x="2912151" y="653585"/>
                <a:chExt cx="4695656" cy="4695655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F9402AF8-3AAB-368A-530C-9CDEE2C1C9A3}"/>
                    </a:ext>
                  </a:extLst>
                </p:cNvPr>
                <p:cNvSpPr/>
                <p:nvPr/>
              </p:nvSpPr>
              <p:spPr>
                <a:xfrm>
                  <a:off x="2912152" y="667016"/>
                  <a:ext cx="4695655" cy="46822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pic>
              <p:nvPicPr>
                <p:cNvPr id="22" name="Picture 2" descr="CVE Icons - Free SVG &amp; PNG CVE Images - Noun Project">
                  <a:extLst>
                    <a:ext uri="{FF2B5EF4-FFF2-40B4-BE49-F238E27FC236}">
                      <a16:creationId xmlns:a16="http://schemas.microsoft.com/office/drawing/2014/main" id="{D6EA288E-5825-BF32-2775-70C547FFA9D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12151" y="653585"/>
                  <a:ext cx="4695655" cy="46956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C025D2F-BC8A-2423-BC32-54CB91302C72}"/>
                  </a:ext>
                </a:extLst>
              </p:cNvPr>
              <p:cNvGrpSpPr/>
              <p:nvPr/>
            </p:nvGrpSpPr>
            <p:grpSpPr>
              <a:xfrm>
                <a:off x="3633354" y="5269031"/>
                <a:ext cx="491330" cy="491330"/>
                <a:chOff x="2912151" y="653585"/>
                <a:chExt cx="4695656" cy="4695655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66CA4FE5-B8DE-ABE0-3C4A-08BB2937DA51}"/>
                    </a:ext>
                  </a:extLst>
                </p:cNvPr>
                <p:cNvSpPr/>
                <p:nvPr/>
              </p:nvSpPr>
              <p:spPr>
                <a:xfrm>
                  <a:off x="2912152" y="667016"/>
                  <a:ext cx="4695655" cy="46822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pic>
              <p:nvPicPr>
                <p:cNvPr id="20" name="Picture 2" descr="CVE Icons - Free SVG &amp; PNG CVE Images - Noun Project">
                  <a:extLst>
                    <a:ext uri="{FF2B5EF4-FFF2-40B4-BE49-F238E27FC236}">
                      <a16:creationId xmlns:a16="http://schemas.microsoft.com/office/drawing/2014/main" id="{166F9D32-D78B-E8F1-3450-851E857A1C8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12151" y="653585"/>
                  <a:ext cx="4695655" cy="46956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81F6515D-B586-ADCA-25E2-5F4A703C8D33}"/>
                  </a:ext>
                </a:extLst>
              </p:cNvPr>
              <p:cNvGrpSpPr/>
              <p:nvPr/>
            </p:nvGrpSpPr>
            <p:grpSpPr>
              <a:xfrm>
                <a:off x="3728786" y="5365487"/>
                <a:ext cx="491330" cy="491330"/>
                <a:chOff x="2912151" y="653585"/>
                <a:chExt cx="4695656" cy="4695655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85D5A36-459C-D3E5-3C00-D7A1C1F43068}"/>
                    </a:ext>
                  </a:extLst>
                </p:cNvPr>
                <p:cNvSpPr/>
                <p:nvPr/>
              </p:nvSpPr>
              <p:spPr>
                <a:xfrm>
                  <a:off x="2912152" y="667016"/>
                  <a:ext cx="4695655" cy="46822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pic>
              <p:nvPicPr>
                <p:cNvPr id="18" name="Picture 2" descr="CVE Icons - Free SVG &amp; PNG CVE Images - Noun Project">
                  <a:extLst>
                    <a:ext uri="{FF2B5EF4-FFF2-40B4-BE49-F238E27FC236}">
                      <a16:creationId xmlns:a16="http://schemas.microsoft.com/office/drawing/2014/main" id="{20CFDC99-280A-9D0D-EEC8-0154E9F96F1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12151" y="653585"/>
                  <a:ext cx="4695655" cy="46956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286FC0-42FE-F953-8FEA-84C00E514C35}"/>
                </a:ext>
              </a:extLst>
            </p:cNvPr>
            <p:cNvSpPr txBox="1"/>
            <p:nvPr/>
          </p:nvSpPr>
          <p:spPr>
            <a:xfrm>
              <a:off x="3465037" y="5776614"/>
              <a:ext cx="799807" cy="2797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545336">
                <a:spcAft>
                  <a:spcPts val="600"/>
                </a:spcAft>
              </a:pPr>
              <a:r>
                <a: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Local DB</a:t>
              </a:r>
              <a:endParaRPr lang="en-US" sz="10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4F0BD72-84D3-D135-18FA-8330A2AAACDE}"/>
              </a:ext>
            </a:extLst>
          </p:cNvPr>
          <p:cNvGrpSpPr/>
          <p:nvPr/>
        </p:nvGrpSpPr>
        <p:grpSpPr>
          <a:xfrm>
            <a:off x="8024338" y="4005982"/>
            <a:ext cx="2846068" cy="1246495"/>
            <a:chOff x="4762964" y="5166779"/>
            <a:chExt cx="3271517" cy="143282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51B3988-16B8-C801-0C22-B455826FD743}"/>
                </a:ext>
              </a:extLst>
            </p:cNvPr>
            <p:cNvSpPr txBox="1"/>
            <p:nvPr/>
          </p:nvSpPr>
          <p:spPr>
            <a:xfrm>
              <a:off x="5263572" y="5166779"/>
              <a:ext cx="2770909" cy="14328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11557" indent="-111557" defTabSz="1115568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000" kern="1200" dirty="0">
                  <a:solidFill>
                    <a:schemeClr val="tx1"/>
                  </a:solidFill>
                  <a:latin typeface="Comic Sans MS" panose="030F0702030302020204" pitchFamily="66" charset="0"/>
                  <a:ea typeface="+mn-ea"/>
                  <a:cs typeface="+mn-cs"/>
                </a:rPr>
                <a:t>VM (OS, app directory, file structure, libraries installed, and others)</a:t>
              </a:r>
            </a:p>
            <a:p>
              <a:pPr marL="111557" indent="-111557" defTabSz="1115568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000" kern="1200" dirty="0">
                  <a:solidFill>
                    <a:schemeClr val="tx1"/>
                  </a:solidFill>
                  <a:latin typeface="Comic Sans MS" panose="030F0702030302020204" pitchFamily="66" charset="0"/>
                  <a:ea typeface="+mn-ea"/>
                  <a:cs typeface="+mn-cs"/>
                </a:rPr>
                <a:t>Vulnerability (Vuln ID, CVE details, how to fix, previous resolution knowledge, resolution steps from internal tool)</a:t>
              </a:r>
              <a:endParaRPr lang="en-US" sz="8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pic>
          <p:nvPicPr>
            <p:cNvPr id="25" name="Picture 6" descr="Document Icon PNG Transparent Background, Free Download #36546 -  FreeIconsPNG">
              <a:extLst>
                <a:ext uri="{FF2B5EF4-FFF2-40B4-BE49-F238E27FC236}">
                  <a16:creationId xmlns:a16="http://schemas.microsoft.com/office/drawing/2014/main" id="{641C840A-715C-2C00-18CE-B42E947DC5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2964" y="5174267"/>
              <a:ext cx="491372" cy="49137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6F35BFE-75A0-44A9-67F1-3170118D4A8B}"/>
              </a:ext>
            </a:extLst>
          </p:cNvPr>
          <p:cNvSpPr txBox="1"/>
          <p:nvPr/>
        </p:nvSpPr>
        <p:spPr>
          <a:xfrm>
            <a:off x="4855346" y="1144861"/>
            <a:ext cx="21014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Used to save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Conversation History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Plans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State variables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A2FD95-5866-D59E-8810-A5D098C4A8D3}"/>
              </a:ext>
            </a:extLst>
          </p:cNvPr>
          <p:cNvSpPr txBox="1"/>
          <p:nvPr/>
        </p:nvSpPr>
        <p:spPr>
          <a:xfrm>
            <a:off x="4809082" y="3349947"/>
            <a:ext cx="259731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LLM for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Vulnerability understanding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Plan generation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All crucial functionalities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47A9B4-04AE-3C1C-2419-27C26A81C61D}"/>
              </a:ext>
            </a:extLst>
          </p:cNvPr>
          <p:cNvSpPr txBox="1"/>
          <p:nvPr/>
        </p:nvSpPr>
        <p:spPr>
          <a:xfrm>
            <a:off x="4793487" y="5835875"/>
            <a:ext cx="24156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/>
              <a:t>Identify Intent and redirect to the specific tool.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34080F-EB21-FBC3-BD0F-25F13E27A388}"/>
              </a:ext>
            </a:extLst>
          </p:cNvPr>
          <p:cNvSpPr txBox="1"/>
          <p:nvPr/>
        </p:nvSpPr>
        <p:spPr>
          <a:xfrm>
            <a:off x="8166576" y="1448469"/>
            <a:ext cx="3196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/>
              <a:t>Local database containing all CVEs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Used as alternative to API/internet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BE4695-7AD0-9336-417D-4AC750D88F2B}"/>
              </a:ext>
            </a:extLst>
          </p:cNvPr>
          <p:cNvSpPr txBox="1"/>
          <p:nvPr/>
        </p:nvSpPr>
        <p:spPr>
          <a:xfrm>
            <a:off x="7919193" y="5464857"/>
            <a:ext cx="39497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/>
              <a:t>Crucial information containing details related to vulnerability and system.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(to be provided by user)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44F5D77-EA7F-8FCF-C078-560CF98202F2}"/>
              </a:ext>
            </a:extLst>
          </p:cNvPr>
          <p:cNvSpPr/>
          <p:nvPr/>
        </p:nvSpPr>
        <p:spPr>
          <a:xfrm>
            <a:off x="7690104" y="159053"/>
            <a:ext cx="4078223" cy="256585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305146D-680D-F149-A1FE-D3918609C4D7}"/>
              </a:ext>
            </a:extLst>
          </p:cNvPr>
          <p:cNvSpPr/>
          <p:nvPr/>
        </p:nvSpPr>
        <p:spPr>
          <a:xfrm>
            <a:off x="7782939" y="3736748"/>
            <a:ext cx="4085968" cy="2658919"/>
          </a:xfrm>
          <a:prstGeom prst="roundRect">
            <a:avLst/>
          </a:prstGeom>
          <a:noFill/>
          <a:ln w="381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EF2C18-A242-B22F-966B-34E5888EEDD3}"/>
              </a:ext>
            </a:extLst>
          </p:cNvPr>
          <p:cNvSpPr txBox="1"/>
          <p:nvPr/>
        </p:nvSpPr>
        <p:spPr>
          <a:xfrm>
            <a:off x="10667440" y="2809478"/>
            <a:ext cx="1382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be added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C6D1BE-3FDC-6E47-186A-4E75A3A73ECC}"/>
              </a:ext>
            </a:extLst>
          </p:cNvPr>
          <p:cNvSpPr txBox="1"/>
          <p:nvPr/>
        </p:nvSpPr>
        <p:spPr>
          <a:xfrm>
            <a:off x="10667439" y="6415901"/>
            <a:ext cx="1213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input</a:t>
            </a:r>
          </a:p>
        </p:txBody>
      </p:sp>
    </p:spTree>
    <p:extLst>
      <p:ext uri="{BB962C8B-B14F-4D97-AF65-F5344CB8AC3E}">
        <p14:creationId xmlns:p14="http://schemas.microsoft.com/office/powerpoint/2010/main" val="2518587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9A8CD-6B56-8135-2499-6F10794F6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Plan/Timeline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C2DC7-F842-61A2-C3D1-41C70BD3C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Week 2 – Design internal CVE Database and access it to generate plans</a:t>
            </a:r>
          </a:p>
          <a:p>
            <a:r>
              <a:rPr lang="en-US" dirty="0"/>
              <a:t>Week 3,4 – Work with team to integrate with copilot. / Dry run to identify which vulnerabilities to target.</a:t>
            </a:r>
          </a:p>
          <a:p>
            <a:r>
              <a:rPr lang="en-US" dirty="0"/>
              <a:t>Week 5,6,7,8 – Record logs for training/analytics purpose (application logs, workflow logs, plans, chat history, state variables, review/feedback from SME on plan)</a:t>
            </a:r>
          </a:p>
          <a:p>
            <a:r>
              <a:rPr lang="en-US" dirty="0"/>
              <a:t>Week 9,10 - Analyze recorded steps and work on designing autonomous workflow.</a:t>
            </a:r>
          </a:p>
          <a:p>
            <a:r>
              <a:rPr lang="en-US" dirty="0"/>
              <a:t>Week 11, 12 – Buffer time to deliver MVP</a:t>
            </a:r>
          </a:p>
        </p:txBody>
      </p:sp>
    </p:spTree>
    <p:extLst>
      <p:ext uri="{BB962C8B-B14F-4D97-AF65-F5344CB8AC3E}">
        <p14:creationId xmlns:p14="http://schemas.microsoft.com/office/powerpoint/2010/main" val="1098151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355</Words>
  <Application>Microsoft Office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Comic Sans MS</vt:lpstr>
      <vt:lpstr>Office Theme</vt:lpstr>
      <vt:lpstr>SHIRE MVP Plan</vt:lpstr>
      <vt:lpstr>Current Procedure</vt:lpstr>
      <vt:lpstr>SHIRE Framework</vt:lpstr>
      <vt:lpstr>SHIRE MVP</vt:lpstr>
      <vt:lpstr>Core Elements</vt:lpstr>
      <vt:lpstr>Plan/Timeline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Yeshwanth Reddy</dc:creator>
  <cp:lastModifiedBy>Yeshwanth Reddy</cp:lastModifiedBy>
  <cp:revision>2</cp:revision>
  <dcterms:created xsi:type="dcterms:W3CDTF">2025-12-17T21:33:40Z</dcterms:created>
  <dcterms:modified xsi:type="dcterms:W3CDTF">2025-12-18T05:16:10Z</dcterms:modified>
</cp:coreProperties>
</file>